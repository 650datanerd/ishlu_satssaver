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video" Target="../media/demo.mp4"/><Relationship Id="rId4" Type="http://schemas.microsoft.com/office/2007/relationships/media" Target="../media/demo.mp4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675120" y="54864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</a:rPr>
              <a:t>DEMO DAY 2026  ·  DADAHUB RESIDENCY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20040" y="7772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IshLu SatsSaver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20040" y="1645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Wealth is Rooted.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20040" y="2331720"/>
            <a:ext cx="4114800" cy="274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46888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F0FE"/>
                </a:solidFill>
              </a:rPr>
              <a:t>Bitcoin micro-savings + behavioral credit scoring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F0FE"/>
                </a:solidFill>
              </a:rPr>
              <a:t>for 400M+ unbanked Africans.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0040" y="3383280"/>
            <a:ext cx="2011680" cy="13258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" y="3456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400M+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65760" y="3977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A4"/>
                </a:solidFill>
              </a:rPr>
              <a:t>Unbanked Africans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96312" y="3383280"/>
            <a:ext cx="2011680" cy="13258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542032" y="3456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$53B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2542032" y="3977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A4"/>
                </a:solidFill>
              </a:rPr>
              <a:t>Annual Remittances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72584" y="3383280"/>
            <a:ext cx="2011680" cy="13258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18304" y="3456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42x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4718304" y="3977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A4"/>
                </a:solidFill>
              </a:rPr>
              <a:t>LTV:CAC Yr 1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848856" y="3383280"/>
            <a:ext cx="2011680" cy="132588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94576" y="3456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894576" y="3977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A4"/>
                </a:solidFill>
              </a:rPr>
              <a:t>Bitcoin Credit Scores</a:t>
            </a:r>
            <a:endParaRPr lang="en-US" sz="9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A4"/>
                </a:solidFill>
              </a:rPr>
              <a:t>(Until Now)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C9A7"/>
                </a:solidFill>
              </a:rPr>
              <a:t>Bitcoin-Backed  ·  M-Pesa Native  ·  Africa-First  ·  Pre-Seed Raising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6B"/>
                </a:solidFill>
              </a:rPr>
              <a:t>01  ·  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Aisha.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28600" y="1188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2A4"/>
                </a:solidFill>
              </a:rPr>
              <a:t>Delivery rider. Nairobi.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2A4"/>
                </a:solidFill>
              </a:rPr>
              <a:t>KES 8,000 saved.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920240"/>
            <a:ext cx="3657600" cy="2286000"/>
          </a:xfrm>
          <a:prstGeom prst="rect">
            <a:avLst/>
          </a:prstGeom>
          <a:solidFill>
            <a:srgbClr val="0A0A1A">
              <a:alpha val="9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029968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50" i="1" dirty="0">
                <a:solidFill>
                  <a:srgbClr val="E8F0FE"/>
                </a:solidFill>
              </a:rPr>
              <a:t>Her money shrinks while she sleeps.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i="1" dirty="0">
                <a:solidFill>
                  <a:srgbClr val="E8F0FE"/>
                </a:solidFill>
              </a:rPr>
              <a:t>Her bike breaks down.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i="1" dirty="0">
                <a:solidFill>
                  <a:srgbClr val="E8F0FE"/>
                </a:solidFill>
              </a:rPr>
              <a:t>She needs KES 15,000 — fast.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i="1" dirty="0">
                <a:solidFill>
                  <a:srgbClr val="E8F0FE"/>
                </a:solidFill>
              </a:rPr>
              <a:t>The bank wants 3 months of payslips.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i="1" dirty="0">
                <a:solidFill>
                  <a:srgbClr val="E8F0FE"/>
                </a:solidFill>
              </a:rPr>
              <a:t>The loan app charges 30%.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i="1" dirty="0">
                <a:solidFill>
                  <a:srgbClr val="E8F0FE"/>
                </a:solidFill>
              </a:rPr>
              <a:t>She sells her phone to survive.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i="1" dirty="0">
                <a:solidFill>
                  <a:srgbClr val="E8F0FE"/>
                </a:solidFill>
              </a:rPr>
              <a:t>That is the liquidity trap.</a:t>
            </a:r>
            <a:endParaRPr lang="en-US" sz="11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50" i="1" dirty="0">
                <a:solidFill>
                  <a:srgbClr val="E8F0FE"/>
                </a:solidFill>
              </a:rPr>
              <a:t>400 million Africans live in it.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80560" y="274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Is Broken.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480560" y="1005840"/>
            <a:ext cx="502920" cy="502920"/>
          </a:xfrm>
          <a:prstGeom prst="ellipse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4568" y="1042416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120640" y="9601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-7%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120640" y="1399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Kenya Inflation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2064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2A4"/>
                </a:solidFill>
              </a:rPr>
              <a:t>Savings accounts silently lose value every year.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80560" y="2148840"/>
            <a:ext cx="4389120" cy="182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2304288"/>
            <a:ext cx="502920" cy="502920"/>
          </a:xfrm>
          <a:prstGeom prst="ellipse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340864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225856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30%+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512064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Predatory Loan Rates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120640" y="29443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2A4"/>
                </a:solidFill>
              </a:rPr>
              <a:t>No credit score = no fair loans. One emergency = debt trap.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480560" y="3447288"/>
            <a:ext cx="4389120" cy="1828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480560" y="3602736"/>
            <a:ext cx="502920" cy="502920"/>
          </a:xfrm>
          <a:prstGeom prst="ellipse">
            <a:avLst/>
          </a:prstGeom>
          <a:solidFill>
            <a:srgbClr val="2A0A0A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3639312"/>
            <a:ext cx="36576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20640" y="355701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5" name="Text 20"/>
          <p:cNvSpPr/>
          <p:nvPr/>
        </p:nvSpPr>
        <p:spPr>
          <a:xfrm>
            <a:off x="5120640" y="3995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Bitcoin Credit Scores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120640" y="424281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892A4"/>
                </a:solidFill>
              </a:rPr>
              <a:t>No system exists to reward disciplined saving behavior.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434840" y="4681728"/>
            <a:ext cx="4480560" cy="347472"/>
          </a:xfrm>
          <a:prstGeom prst="rect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434840" y="47091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C9A7"/>
                </a:solidFill>
              </a:rPr>
              <a:t>IshLu is how Aisha escapes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</a:rPr>
              <a:t>02  · 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Bitcoin savings + credit scoring,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M-Pesa.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8600" y="1691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A623"/>
                </a:solidFill>
              </a:rPr>
              <a:t>One clear sentence: Save KES 100 via M-Pesa → receive Bitcoin sats instantly → build a credit score based on your behavior, not your bank.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8600" y="2331720"/>
            <a:ext cx="2834640" cy="2423160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468880"/>
            <a:ext cx="594360" cy="594360"/>
          </a:xfrm>
          <a:prstGeom prst="ellipse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53288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31821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M-Pesa Native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358444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Save from KES 50. STK Push in 3 seconds. Zero friction, zero apps to learn. Just your phone and PIN.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2331720"/>
            <a:ext cx="2834640" cy="2423160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2468880"/>
            <a:ext cx="594360" cy="594360"/>
          </a:xfrm>
          <a:prstGeom prst="ellipse">
            <a:avLst/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253288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31821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Bitcoin Sats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291840" y="358444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KES converts to sats instantly via Lightning Network. Inflation-proof. Yours forever. Non-custodial wallets.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72200" y="2331720"/>
            <a:ext cx="2834640" cy="2423160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5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09360" y="2468880"/>
            <a:ext cx="594360" cy="594360"/>
          </a:xfrm>
          <a:prstGeom prst="ellipse">
            <a:avLst/>
          </a:prstGeom>
          <a:solidFill>
            <a:srgbClr val="1A1A35"/>
          </a:solidFill>
          <a:ln w="12700">
            <a:solidFill>
              <a:srgbClr val="9B59B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53288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31821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Score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263640" y="3584448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Proprietary 5-factor score (300–850). No payslips needed. Just behavioral data — discipline is your credit.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28600" y="4709160"/>
            <a:ext cx="8686800" cy="320040"/>
          </a:xfrm>
          <a:prstGeom prst="rect">
            <a:avLst/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74320" y="473659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A623"/>
                </a:solidFill>
              </a:rPr>
              <a:t>Why now? Lightning Network matured. M-Pesa Daraja API open. AI coaching affordable. No one has combined them — until IshLu.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</a:rPr>
              <a:t>03  · 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Layers. One Moat.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" y="12801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C9A7"/>
                </a:solidFill>
              </a:rPr>
              <a:t>KES 100  →  750 sats. Bitcoin. Forever.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691640"/>
            <a:ext cx="1417320" cy="914400"/>
          </a:xfrm>
          <a:prstGeom prst="ellipse">
            <a:avLst/>
          </a:prstGeom>
          <a:solidFill>
            <a:srgbClr val="1A1A35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7190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Open App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55064" y="2084832"/>
            <a:ext cx="301752" cy="27432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1691640"/>
            <a:ext cx="1417320" cy="914400"/>
          </a:xfrm>
          <a:prstGeom prst="ellipse">
            <a:avLst/>
          </a:prstGeom>
          <a:solidFill>
            <a:srgbClr val="1A1A35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7190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6596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Tap Save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→ M-Pesa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92424" y="2084832"/>
            <a:ext cx="301752" cy="27432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1691640"/>
            <a:ext cx="1417320" cy="914400"/>
          </a:xfrm>
          <a:prstGeom prst="ellipse">
            <a:avLst/>
          </a:prstGeom>
          <a:solidFill>
            <a:srgbClr val="1A1A35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7190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0332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STK Push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Arrives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29784" y="2084832"/>
            <a:ext cx="301752" cy="27432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0680" y="1691640"/>
            <a:ext cx="1417320" cy="914400"/>
          </a:xfrm>
          <a:prstGeom prst="ellipse">
            <a:avLst/>
          </a:prstGeom>
          <a:solidFill>
            <a:srgbClr val="1A1A35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17190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4068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Enter PIN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Confirm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67144" y="2084832"/>
            <a:ext cx="301752" cy="27432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1691640"/>
            <a:ext cx="1417320" cy="914400"/>
          </a:xfrm>
          <a:prstGeom prst="ellipse">
            <a:avLst/>
          </a:prstGeom>
          <a:solidFill>
            <a:srgbClr val="1A1A35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171907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7804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Sats Land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Tree Grows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834640"/>
            <a:ext cx="2834640" cy="201168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834640"/>
            <a:ext cx="2834640" cy="347472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862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  Lightning Network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C9A7"/>
                </a:solidFill>
              </a:rPr>
              <a:t>Breez SDK · LNbits · M-Pesa Daraja STK Push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0040" y="363931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A4"/>
                </a:solidFill>
              </a:rPr>
              <a:t>Fastest payment rail on earth. Sats settle in seconds. Non-custodial per-user wallets. No bank. No delay.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2834640"/>
            <a:ext cx="2834640" cy="2011680"/>
          </a:xfrm>
          <a:prstGeom prst="rect">
            <a:avLst/>
          </a:prstGeom>
          <a:solidFill>
            <a:srgbClr val="14142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2834640"/>
            <a:ext cx="2834640" cy="347472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2862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  Trust Score Engine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5A623"/>
                </a:solidFill>
              </a:rPr>
              <a:t>5-factor algorithm · 300–850 scale · FICO-like but Bitcoin-native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91840" y="363931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A4"/>
                </a:solidFill>
              </a:rPr>
              <a:t>35% Consistency · 25% Goals · 15% Tenure · 15% Velocity · 10% Repayment. Score persists on-chain forever.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2834640"/>
            <a:ext cx="2834640" cy="2011680"/>
          </a:xfrm>
          <a:prstGeom prst="rect">
            <a:avLst/>
          </a:prstGeom>
          <a:solidFill>
            <a:srgbClr val="141428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2834640"/>
            <a:ext cx="2834640" cy="347472"/>
          </a:xfrm>
          <a:prstGeom prst="rect">
            <a:avLst/>
          </a:prstGeom>
          <a:solidFill>
            <a:srgbClr val="9B59B6">
              <a:alpha val="2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2862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  Akili AI Coach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63640" y="323697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B59B6"/>
                </a:solidFill>
              </a:rPr>
              <a:t>Claude (Anthropic) · English + Swahili · Offline fallback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63640" y="363931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A4"/>
                </a:solidFill>
              </a:rPr>
              <a:t>Explains your score in plain English and Swahili. Personalized nudges to grow your savings streak.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</a:rPr>
              <a:t>04  ·  TRACTION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Users. Real Data.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1627632" cy="118872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8132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Signed Up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84248" y="1417320"/>
            <a:ext cx="1627632" cy="1188720"/>
          </a:xfrm>
          <a:prstGeom prst="rect">
            <a:avLst/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29968" y="148132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29968" y="20116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Deposits Made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39896" y="1417320"/>
            <a:ext cx="1627632" cy="1188720"/>
          </a:xfrm>
          <a:prstGeom prst="rect">
            <a:avLst/>
          </a:prstGeom>
          <a:solidFill>
            <a:srgbClr val="1A1A35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85616" y="148132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85616" y="20116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Lightning Settled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95544" y="1417320"/>
            <a:ext cx="1627632" cy="118872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41264" y="148132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450+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541264" y="20116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Avg Trust Score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51192" y="1417320"/>
            <a:ext cx="1627632" cy="1188720"/>
          </a:xfrm>
          <a:prstGeom prst="rect">
            <a:avLst/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96912" y="148132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96912" y="201168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Trust Score Calcs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28346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A623"/>
                </a:solidFill>
              </a:rPr>
              <a:t>Tested with real users in Nairobi.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200400"/>
            <a:ext cx="2834640" cy="155448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200400"/>
            <a:ext cx="45720" cy="1554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91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FFFFF"/>
                </a:solidFill>
              </a:rPr>
              <a:t>"It came before I even put my phone down."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142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— STK Push user, 3 seconds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200400"/>
            <a:ext cx="2834640" cy="155448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200400"/>
            <a:ext cx="45720" cy="1554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291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FFFFF"/>
                </a:solidFill>
              </a:rPr>
              <a:t>"I understood it immediately. 100 shillings = 750 sats."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4142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— KES→Sats clarity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3200400"/>
            <a:ext cx="2834640" cy="155448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3200400"/>
            <a:ext cx="45720" cy="1554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291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FFFFFF"/>
                </a:solidFill>
              </a:rPr>
              <a:t>"I didn't want to break my streak. That's the point."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4142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A7"/>
                </a:solidFill>
              </a:rPr>
              <a:t>— Sats Tree engagement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</a:rPr>
              <a:t>05  ·  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$50B+ Market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Hiding in Plain Sight.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0" y="502920"/>
            <a:ext cx="4343400" cy="4343400"/>
          </a:xfrm>
          <a:prstGeom prst="ellipse">
            <a:avLst/>
          </a:prstGeom>
          <a:solidFill>
            <a:srgbClr val="00C9A7">
              <a:alpha val="12000"/>
            </a:srgbClr>
          </a:solidFill>
          <a:ln w="1905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66360" y="1097280"/>
            <a:ext cx="3200400" cy="3200400"/>
          </a:xfrm>
          <a:prstGeom prst="ellipse">
            <a:avLst/>
          </a:prstGeom>
          <a:solidFill>
            <a:srgbClr val="F5A623">
              <a:alpha val="12000"/>
            </a:srgbClr>
          </a:solidFill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0" y="1737360"/>
            <a:ext cx="1828800" cy="1828800"/>
          </a:xfrm>
          <a:prstGeom prst="ellipse">
            <a:avLst/>
          </a:prstGeom>
          <a:solidFill>
            <a:srgbClr val="FF6B6B">
              <a:alpha val="12000"/>
            </a:srgbClr>
          </a:solidFill>
          <a:ln w="19050">
            <a:solidFill>
              <a:srgbClr val="FF6B6B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6217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TAM  $50B+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5780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SAM  $8B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23042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</a:rPr>
              <a:t>SOM  $120M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783080"/>
            <a:ext cx="4114800" cy="621792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1965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400M+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19293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Unbanked Africans — total addressable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532888"/>
            <a:ext cx="4114800" cy="621792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56946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$53B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26791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Annual remittances, Africa 2024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282696"/>
            <a:ext cx="4114800" cy="621792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1927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34290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Mobile money penetration, Sub-Saharan Africa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4032504"/>
            <a:ext cx="4114800" cy="621792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06908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37360" y="41788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892A4"/>
                </a:solidFill>
              </a:rPr>
              <a:t>Existing Bitcoin credit score products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0C9A7"/>
                </a:solidFill>
              </a:rPr>
              <a:t>We don't compete with banks. We solve what banks can't.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B59B6"/>
                </a:solidFill>
              </a:rPr>
              <a:t>06  ·  THE MOAT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Score: Our Unfair Advantage.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2468880" cy="3429000"/>
          </a:xfrm>
          <a:prstGeom prst="rect">
            <a:avLst/>
          </a:prstGeom>
          <a:solidFill>
            <a:srgbClr val="141428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5087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842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28600" y="24505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5A623"/>
                </a:solidFill>
              </a:rPr>
              <a:t>PLATINUM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2816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Max loan: 500,000 sats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🌱 Seed 300+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34930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🥉 Bronze 450+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37856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🥈 Silver 600+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4078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🥇 Gold 750+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4370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💎 Platinum 850+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2608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5-Factor Algorithm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1920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Savings Consistency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0" y="21396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Weekly saving frequency over 8 weeks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1956816"/>
            <a:ext cx="2286000" cy="20116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956816"/>
            <a:ext cx="800100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42832" y="1956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35%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25511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Goal Completion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0" y="27706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Goals hit on time vs. withdrawn early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2587752"/>
            <a:ext cx="2286000" cy="20116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2587752"/>
            <a:ext cx="57150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42832" y="25877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25%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26080" y="31821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Account Tenure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26080" y="34015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Days on platform (log curve)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0" y="3218688"/>
            <a:ext cx="2286000" cy="20116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3218688"/>
            <a:ext cx="342900" cy="20116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42832" y="32186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B6"/>
                </a:solidFill>
              </a:rPr>
              <a:t>15%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0" y="38130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Savings Velocity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926080" y="40325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Month-over-month sats growth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0" y="3849624"/>
            <a:ext cx="2286000" cy="20116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3849624"/>
            <a:ext cx="342900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42832" y="38496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15%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926080" y="44439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Loan Repayment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26080" y="4663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On-time repayment rate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4480560"/>
            <a:ext cx="2286000" cy="20116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83680" y="4480560"/>
            <a:ext cx="22860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42832" y="44805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10%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26080" y="4681728"/>
            <a:ext cx="5943600" cy="320040"/>
          </a:xfrm>
          <a:prstGeom prst="rect">
            <a:avLst/>
          </a:prstGeom>
          <a:solidFill>
            <a:srgbClr val="1A1A35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470916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59B6"/>
                </a:solidFill>
              </a:rPr>
              <a:t>Score persists on-chain forever. Every user's history is a data flywheel competitors can't replicate.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</a:rPr>
              <a:t>07  ·  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Streams. All Aligned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User Success.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783080"/>
            <a:ext cx="2057400" cy="246888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783080"/>
            <a:ext cx="2057400" cy="384048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1051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NOW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22677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0.5% FX Spread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798064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A4"/>
                </a:solidFill>
              </a:rPr>
              <a:t>Every KES→Sats conversion. Invisible to user. Scales with volume.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1783080"/>
            <a:ext cx="2057400" cy="2468880"/>
          </a:xfrm>
          <a:prstGeom prst="rect">
            <a:avLst/>
          </a:prstGeom>
          <a:solidFill>
            <a:srgbClr val="14142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1783080"/>
            <a:ext cx="2057400" cy="384048"/>
          </a:xfrm>
          <a:prstGeom prst="rect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81051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MONTH 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14600" y="22677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 Loan Interest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2798064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A4"/>
                </a:solidFill>
              </a:rPr>
              <a:t>Emergency loans backed by user's own sats. Fully collateralised. No default risk.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783080"/>
            <a:ext cx="2057400" cy="2468880"/>
          </a:xfrm>
          <a:prstGeom prst="rect">
            <a:avLst/>
          </a:prstGeom>
          <a:solidFill>
            <a:srgbClr val="141428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783080"/>
            <a:ext cx="2057400" cy="384048"/>
          </a:xfrm>
          <a:prstGeom prst="rect">
            <a:avLst/>
          </a:prstGeom>
          <a:solidFill>
            <a:srgbClr val="9B59B6">
              <a:alpha val="25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81051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YEAR 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09160" y="22677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SaaS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798064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A4"/>
                </a:solidFill>
              </a:rPr>
              <a:t>License Trust Score to banks, SACCOs, microfinance institutions.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783080"/>
            <a:ext cx="2057400" cy="2468880"/>
          </a:xfrm>
          <a:prstGeom prst="rect">
            <a:avLst/>
          </a:prstGeom>
          <a:solidFill>
            <a:srgbClr val="14142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1783080"/>
            <a:ext cx="2057400" cy="384048"/>
          </a:xfrm>
          <a:prstGeom prst="rect">
            <a:avLst/>
          </a:prstGeom>
          <a:solidFill>
            <a:srgbClr val="FF6B6B">
              <a:alpha val="2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81051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YEAR 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03720" y="226771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Tier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798064"/>
            <a:ext cx="1874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A4"/>
                </a:solidFill>
              </a:rPr>
              <a:t>Auto-DCA, chama groups, higher limits, advanced analytics.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34840"/>
            <a:ext cx="8686800" cy="594360"/>
          </a:xfrm>
          <a:prstGeom prst="rect">
            <a:avLst/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4622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5A623"/>
                </a:solidFill>
              </a:rPr>
              <a:t>YEAR 1 UNIT ECONOMICS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6032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 200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560320" y="4736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CAC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 1,200/yr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06240" y="4736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ARPU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5216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 8,400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52160" y="4736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LTV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42x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98080" y="4736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LTV:CAC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A623"/>
                </a:solidFill>
              </a:rPr>
              <a:t>08  ·  TEAM  &amp;  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1280160" cy="1280160"/>
          </a:xfrm>
          <a:prstGeom prst="ellipse">
            <a:avLst/>
          </a:prstGeom>
          <a:solidFill>
            <a:srgbClr val="1A1A35"/>
          </a:solidFill>
          <a:ln w="254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298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Lucy Kamau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</a:rPr>
              <a:t>Founder &amp; CEO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45920" y="20299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▸  Designed, coded, shipped IshLu — solo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45920" y="23682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▸  DadaHub Residency 2026, Nairobi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645920" y="27066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▸  Solo = full ownership, zero co-founder risk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645920" y="3044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▸  Proven builder. Funding builds the team.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8600" y="3401568"/>
            <a:ext cx="4114800" cy="50292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34381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00C9A7"/>
                </a:solidFill>
              </a:rPr>
              <a:t>Solo = honest signal. No co-founder dilution. No alignment risk.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i="1" dirty="0">
                <a:solidFill>
                  <a:srgbClr val="00C9A7"/>
                </a:solidFill>
              </a:rPr>
              <a:t>Funding builds the team around a proven product.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0" y="594360"/>
            <a:ext cx="4343400" cy="4343400"/>
          </a:xfrm>
          <a:prstGeom prst="rect">
            <a:avLst/>
          </a:prstGeom>
          <a:solidFill>
            <a:srgbClr val="141428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731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709160" y="1325880"/>
            <a:ext cx="4069080" cy="1024128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8032" y="13990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Phase 1 — M1–M6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28032" y="170992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A4"/>
                </a:solidFill>
              </a:rPr>
              <a:t>500 users via DadaHub community + M-Pesa word-of-mouth. CAC: KES 200. Zero paid ads.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09160" y="2487168"/>
            <a:ext cx="4069080" cy="1024128"/>
          </a:xfrm>
          <a:prstGeom prst="rect">
            <a:avLst/>
          </a:prstGeom>
          <a:solidFill>
            <a:srgbClr val="1A1A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28032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Phase 2 — M6–M12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28032" y="287121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A4"/>
                </a:solidFill>
              </a:rPr>
              <a:t>SACCOs &amp; chamas as distribution. 10% revenue share = zero direct acquisition cost.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09160" y="3648456"/>
            <a:ext cx="4069080" cy="1024128"/>
          </a:xfrm>
          <a:prstGeom prst="rect">
            <a:avLst/>
          </a:prstGeom>
          <a:solidFill>
            <a:srgbClr val="1A1A35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28032" y="3721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</a:rPr>
              <a:t>Phase 3 — M12+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28032" y="40325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92A4"/>
                </a:solidFill>
              </a:rPr>
              <a:t>B2B API licensing to SACCOs, microfinance, banks. Kenya → Nigeria expansion.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617720" y="47548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5A623"/>
                </a:solidFill>
              </a:rPr>
              <a:t>500 users M3  →  KES 2M ARR M9  →  Series A ready M18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486400" cy="548640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6B"/>
                </a:solidFill>
              </a:rPr>
              <a:t>09  ·  THE 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5943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28600" y="13898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$50,000  ·  SAFE  ·  $600K Cap  ·  20% Discount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" y="1965960"/>
            <a:ext cx="2084832" cy="1508760"/>
          </a:xfrm>
          <a:prstGeom prst="rect">
            <a:avLst/>
          </a:prstGeom>
          <a:solidFill>
            <a:srgbClr val="1414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2996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9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25786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$20K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285292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A4"/>
                </a:solidFill>
              </a:rPr>
              <a:t>Product &amp; Engineering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41448" y="1965960"/>
            <a:ext cx="2084832" cy="1508760"/>
          </a:xfrm>
          <a:prstGeom prst="rect">
            <a:avLst/>
          </a:prstGeom>
          <a:solidFill>
            <a:srgbClr val="14142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202996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87168" y="25786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$15K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87168" y="285292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A4"/>
                </a:solidFill>
              </a:rPr>
              <a:t>User Acquisition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54296" y="1965960"/>
            <a:ext cx="2084832" cy="1508760"/>
          </a:xfrm>
          <a:prstGeom prst="rect">
            <a:avLst/>
          </a:prstGeom>
          <a:solidFill>
            <a:srgbClr val="141428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202996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B59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700016" y="25786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$10K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0016" y="285292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A4"/>
                </a:solidFill>
              </a:rPr>
              <a:t>Compliance &amp; Legal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67144" y="1965960"/>
            <a:ext cx="2084832" cy="1508760"/>
          </a:xfrm>
          <a:prstGeom prst="rect">
            <a:avLst/>
          </a:prstGeom>
          <a:solidFill>
            <a:srgbClr val="14142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2864" y="202996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12864" y="25786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$5K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12864" y="285292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92A4"/>
                </a:solidFill>
              </a:rPr>
              <a:t>Operations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611880"/>
            <a:ext cx="8686800" cy="1051560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C9A7"/>
                </a:solidFill>
              </a:rPr>
              <a:t>WHAT THIS FUNDING UNLOCKS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14400" y="393192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3931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500 users by M3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0" y="393192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3931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KES 2M ARR by M9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3931920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3931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Series A ready M18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7823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00C9A7"/>
                </a:solidFill>
              </a:rPr>
              <a:t>lucyk7770@gmail.com  ·  +254 740 683 490  ·  @TheeNerdd  ·  github.com/650DataNerd/IshLu_SatsSaver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8600" y="5074920"/>
            <a:ext cx="8686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" dirty="0">
                <a:solidFill>
                  <a:srgbClr val="0A0A1A"/>
                </a:solidFill>
              </a:rPr>
              <a:t>IshLu SatsSaver  ·  Your Wealth is Rooted.</a:t>
            </a:r>
            <a:endParaRPr lang="en-US" sz="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C9A7"/>
                </a:solidFill>
              </a:rPr>
              <a:t>MINUTE 2  ·  LIVE DEMO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" y="5943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It Work.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" y="1307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5A623"/>
                </a:solidFill>
              </a:rPr>
              <a:t>KES 100  →  750 sats. Bitcoin. Forever.</a:t>
            </a:r>
            <a:endParaRPr lang="en-US" sz="1400" dirty="0"/>
          </a:p>
        </p:txBody>
      </p:sp>
      <p:pic xmlns:p14="http://schemas.microsoft.com/office/powerpoint/2010/main">
        <p:nvPicPr>
          <p:cNvPr id="6" name="Video Demo">
            <a:hlinkClick r:id="" action="ppaction://media"/>
          </p:cNvPr>
          <p:cNvPicPr>
            <a:picLocks noChangeAspect="1"/>
          </p:cNvPicPr>
          <p:nvPr>
            <p:ph type="body"/>
            <p14:media xmlns:p14="http://schemas.microsoft.com/office/powerpoint/2010/main" r:id="rId3">
              <p14:trim/>
            </p14:media>
          </p:nvPr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228600" y="1783080"/>
            <a:ext cx="4846320" cy="3017520"/>
          </a:xfrm>
          <a:prstGeom prst="rect">
            <a:avLst/>
          </a:prstGeom>
        </p:spPr>
      </p:pic>
      <p:sp>
        <p:nvSpPr>
          <p:cNvPr id="12" name="Shape 10"/>
          <p:cNvSpPr/>
          <p:nvPr/>
        </p:nvSpPr>
        <p:spPr>
          <a:xfrm>
            <a:off x="5349240" y="1819656"/>
            <a:ext cx="475488" cy="475488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819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181965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Open App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0" y="2057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Dashboard with Sats Tree loads instantly.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59552" y="2313432"/>
            <a:ext cx="54864" cy="137160"/>
          </a:xfrm>
          <a:prstGeom prst="rect">
            <a:avLst/>
          </a:prstGeom>
          <a:solidFill>
            <a:srgbClr val="8892A4">
              <a:alpha val="40000"/>
            </a:srgbClr>
          </a:solidFill>
          <a:ln w="12700">
            <a:solidFill>
              <a:srgbClr val="8892A4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2441448"/>
            <a:ext cx="475488" cy="475488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441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244144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Tap Save → M-Pesa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0" y="2679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Select KES 100. One tap.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59552" y="2935224"/>
            <a:ext cx="54864" cy="137160"/>
          </a:xfrm>
          <a:prstGeom prst="rect">
            <a:avLst/>
          </a:prstGeom>
          <a:solidFill>
            <a:srgbClr val="8892A4">
              <a:alpha val="40000"/>
            </a:srgbClr>
          </a:solidFill>
          <a:ln w="12700">
            <a:solidFill>
              <a:srgbClr val="8892A4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49240" y="3063240"/>
            <a:ext cx="475488" cy="475488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3063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306324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Phone Vibrates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0" y="33009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M-Pesa STK Push arrives in 3 seconds.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59552" y="3557016"/>
            <a:ext cx="54864" cy="137160"/>
          </a:xfrm>
          <a:prstGeom prst="rect">
            <a:avLst/>
          </a:prstGeom>
          <a:solidFill>
            <a:srgbClr val="8892A4">
              <a:alpha val="40000"/>
            </a:srgbClr>
          </a:solidFill>
          <a:ln w="12700">
            <a:solidFill>
              <a:srgbClr val="8892A4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49240" y="3685032"/>
            <a:ext cx="475488" cy="475488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3685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0" y="368503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Enter PIN → Confirm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43600" y="39227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Standard M-Pesa flow. No new habits.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59552" y="4178808"/>
            <a:ext cx="54864" cy="137160"/>
          </a:xfrm>
          <a:prstGeom prst="rect">
            <a:avLst/>
          </a:prstGeom>
          <a:solidFill>
            <a:srgbClr val="8892A4">
              <a:alpha val="40000"/>
            </a:srgbClr>
          </a:solidFill>
          <a:ln w="12700">
            <a:solidFill>
              <a:srgbClr val="8892A4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49240" y="4306824"/>
            <a:ext cx="475488" cy="475488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4306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43600" y="430682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Sats Credited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43600" y="45445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2A4"/>
                </a:solidFill>
              </a:rPr>
              <a:t>Tree grows. Balance updates. Bitcoin yours.</a:t>
            </a:r>
            <a:endParaRPr lang="en-US" sz="950" dirty="0"/>
          </a:p>
        </p:txBody>
      </p:sp>
    </p:spTree>
  </p:cSld>
  <p:clrMapOvr>
    <a:masterClrMapping/>
  </p:clrMapOvr>
  <p:extLst>
    <p:ext uri="{BDDACDA8-0B0A-4AFF-81CC-9468B6B4A128}">
      <p14:media xmlns:p14="http://schemas.microsoft.com/office/powerpoint/2010/main" r:id="rId3">
        <p14:trim/>
      </p14:media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1828800"/>
            <a:ext cx="6400800" cy="640080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-914400"/>
            <a:ext cx="3657600" cy="3657600"/>
          </a:xfrm>
          <a:prstGeom prst="ellipse">
            <a:avLst/>
          </a:prstGeom>
          <a:solidFill>
            <a:srgbClr val="9B59B6">
              <a:alpha val="5000"/>
            </a:srgbClr>
          </a:solidFill>
          <a:ln w="12700">
            <a:solidFill>
              <a:srgbClr val="9B59B6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5943600" y="457200"/>
            <a:ext cx="292608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6858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IshLu SatsSaver</a:t>
            </a:r>
            <a:endParaRPr lang="en-US" sz="4800" dirty="0"/>
          </a:p>
        </p:txBody>
      </p:sp>
      <p:sp>
        <p:nvSpPr>
          <p:cNvPr id="8" name="Shape 5"/>
          <p:cNvSpPr/>
          <p:nvPr/>
        </p:nvSpPr>
        <p:spPr>
          <a:xfrm>
            <a:off x="320040" y="1572768"/>
            <a:ext cx="53035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70992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Wealth is Rooted.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20040" y="26974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550" dirty="0">
                <a:solidFill>
                  <a:srgbClr val="E8F0FE"/>
                </a:solidFill>
              </a:rPr>
              <a:t>IshLu SatsSaver is how 400M Africans start</a:t>
            </a:r>
            <a:endParaRPr lang="en-US" sz="155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550" dirty="0">
                <a:solidFill>
                  <a:srgbClr val="E8F0FE"/>
                </a:solidFill>
              </a:rPr>
              <a:t>building Bitcoin wealth — one shilling at a time.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320040" y="3657600"/>
            <a:ext cx="2011680" cy="347472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C9A7"/>
                </a:solidFill>
              </a:rPr>
              <a:t>Build in Public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96312" y="3657600"/>
            <a:ext cx="2011680" cy="347472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96312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C9A7"/>
                </a:solidFill>
              </a:rPr>
              <a:t>Ship Real Things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72584" y="3657600"/>
            <a:ext cx="2011680" cy="347472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72584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C9A7"/>
                </a:solidFill>
              </a:rPr>
              <a:t>Context Matters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848856" y="3657600"/>
            <a:ext cx="2011680" cy="347472"/>
          </a:xfrm>
          <a:prstGeom prst="rect">
            <a:avLst/>
          </a:prstGeom>
          <a:solidFill>
            <a:srgbClr val="1A1A35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48856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0C9A7"/>
                </a:solidFill>
              </a:rPr>
              <a:t>Give Back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0" y="4178808"/>
            <a:ext cx="9144000" cy="964692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0" y="4178808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✉  lucyk7770@gmail.com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0604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📞  +254 740 683 490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4632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𝕏  @TheeNerdd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086600" y="4297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4"/>
                </a:solidFill>
              </a:rPr>
              <a:t>💻  github.com/650DataNerd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C9A7"/>
                </a:solidFill>
              </a:rPr>
              <a:t>🌐  ishlusatssaver-production.up.railway.app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IshLu SatsSaver — Pre-Seed 2026</dc:title>
  <dc:subject>PptxGenJS Presentation</dc:subject>
  <dc:creator>PptxGenJS</dc:creator>
  <cp:lastModifiedBy>PptxGenJS</cp:lastModifiedBy>
  <cp:revision>1</cp:revision>
  <dcterms:created xsi:type="dcterms:W3CDTF">2026-05-08T19:40:43Z</dcterms:created>
  <dcterms:modified xsi:type="dcterms:W3CDTF">2026-05-08T19:40:43Z</dcterms:modified>
</cp:coreProperties>
</file>