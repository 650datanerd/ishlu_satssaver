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media4.mp4" ContentType="video/mp4"/>
  <Override PartName="/ppt/media/image8.png" ContentType="image/png"/>
  <Override PartName="/ppt/media/image12.png" ContentType="image/png"/>
  <Override PartName="/ppt/media/image5.png" ContentType="image/png"/>
  <Override PartName="/ppt/media/image6.png" ContentType="image/png"/>
  <Override PartName="/ppt/media/image10.png" ContentType="image/png"/>
  <Override PartName="/ppt/media/image7.png" ContentType="image/png"/>
  <Override PartName="/ppt/media/image11.png" ContentType="image/png"/>
  <Override PartName="/ppt/media/image9.png" ContentType="image/png"/>
  <Override PartName="/ppt/media/image13.png" ContentType="image/png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135CF75-2883-49FC-B717-80F46D4C53B2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7150368-A5CE-4529-B8E1-9FC8C4647D5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11BD861-53B0-45FA-9F6E-7FCC118457D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E4B95E1-CCCC-49DC-8240-3C044C636DC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4F7162D-B380-46B5-8AAF-7A495048303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DA09A132-8BB2-4DF3-A1AB-FBD34476E56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8384122-EAA3-40FE-8A1D-2DE879913DAF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3FED405-8F3D-4586-A8E9-A76DDCCFA4A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47CB18F-2596-4202-8FC6-37B32C01511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3E857BD-7C6E-4A49-A7A5-3D5A70394478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3774562-3C8D-4924-B5D0-B90F203D642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video" Target="../media/media4.mp4"/><Relationship Id="rId2" Type="http://schemas.microsoft.com/office/2007/relationships/media" Target="../media/media4.mp4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4754880" y="-1645920"/>
            <a:ext cx="7314480" cy="7314480"/>
          </a:xfrm>
          <a:prstGeom prst="ellipse">
            <a:avLst/>
          </a:prstGeom>
          <a:solidFill>
            <a:srgbClr val="186b3a">
              <a:alpha val="12000"/>
            </a:srgbClr>
          </a:solidFill>
          <a:ln w="12700">
            <a:solidFill>
              <a:srgbClr val="186b3a">
                <a:alpha val="12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Shape 1"/>
          <p:cNvSpPr/>
          <p:nvPr/>
        </p:nvSpPr>
        <p:spPr>
          <a:xfrm>
            <a:off x="7132320" y="1645920"/>
            <a:ext cx="3199680" cy="3199680"/>
          </a:xfrm>
          <a:prstGeom prst="ellipse">
            <a:avLst/>
          </a:prstGeom>
          <a:solidFill>
            <a:srgbClr val="f2a900">
              <a:alpha val="8000"/>
            </a:srgbClr>
          </a:solidFill>
          <a:ln w="12700">
            <a:solidFill>
              <a:srgbClr val="f2a900">
                <a:alpha val="8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Shape 2"/>
          <p:cNvSpPr/>
          <p:nvPr/>
        </p:nvSpPr>
        <p:spPr>
          <a:xfrm>
            <a:off x="-1828800" y="3200400"/>
            <a:ext cx="4571280" cy="4571280"/>
          </a:xfrm>
          <a:prstGeom prst="ellipse">
            <a:avLst/>
          </a:prstGeom>
          <a:solidFill>
            <a:srgbClr val="186b3a">
              <a:alpha val="9000"/>
            </a:srgbClr>
          </a:solidFill>
          <a:ln w="12700">
            <a:solidFill>
              <a:srgbClr val="186b3a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475560" y="411480"/>
            <a:ext cx="685080" cy="685080"/>
          </a:xfrm>
          <a:prstGeom prst="rect">
            <a:avLst/>
          </a:prstGeom>
          <a:ln w="0">
            <a:noFill/>
          </a:ln>
        </p:spPr>
      </p:pic>
      <p:sp>
        <p:nvSpPr>
          <p:cNvPr id="12" name="Text 3"/>
          <p:cNvSpPr/>
          <p:nvPr/>
        </p:nvSpPr>
        <p:spPr>
          <a:xfrm>
            <a:off x="1280160" y="384120"/>
            <a:ext cx="46627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IshLu SatsSaver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Text 4"/>
          <p:cNvSpPr/>
          <p:nvPr/>
        </p:nvSpPr>
        <p:spPr>
          <a:xfrm>
            <a:off x="475560" y="1298520"/>
            <a:ext cx="5942880" cy="187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pc="-1" strike="noStrike">
                <a:solidFill>
                  <a:srgbClr val="f2a900"/>
                </a:solidFill>
                <a:latin typeface="Georgia"/>
                <a:ea typeface="Georgia"/>
              </a:rPr>
              <a:t>Your Wealth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5400" spc="-1" strike="noStrike">
                <a:solidFill>
                  <a:srgbClr val="f2a900"/>
                </a:solidFill>
                <a:latin typeface="Georgia"/>
                <a:ea typeface="Georgia"/>
              </a:rPr>
              <a:t>is Rooted.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475560" y="3291840"/>
            <a:ext cx="53028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Bitcoin micro-savings + credit scoring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for 400M+ unbanked Africans.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Shape 6"/>
          <p:cNvSpPr/>
          <p:nvPr/>
        </p:nvSpPr>
        <p:spPr>
          <a:xfrm>
            <a:off x="475560" y="4160520"/>
            <a:ext cx="2239560" cy="38340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475560" y="416952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₿  </a:t>
            </a: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Bitcoin-Backed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2871360" y="4160520"/>
            <a:ext cx="2239560" cy="38340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2871360" y="416952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KES  M-Pesa Native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Shape 10"/>
          <p:cNvSpPr/>
          <p:nvPr/>
        </p:nvSpPr>
        <p:spPr>
          <a:xfrm>
            <a:off x="5266800" y="4160520"/>
            <a:ext cx="2239560" cy="383400"/>
          </a:xfrm>
          <a:prstGeom prst="roundRect">
            <a:avLst>
              <a:gd name="adj" fmla="val 38095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5266800" y="4169520"/>
            <a:ext cx="223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🌍  </a:t>
            </a: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Africa-First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Shape 12"/>
          <p:cNvSpPr/>
          <p:nvPr/>
        </p:nvSpPr>
        <p:spPr>
          <a:xfrm>
            <a:off x="6144840" y="411480"/>
            <a:ext cx="1389240" cy="171828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 13"/>
          <p:cNvSpPr/>
          <p:nvPr/>
        </p:nvSpPr>
        <p:spPr>
          <a:xfrm>
            <a:off x="6144840" y="521280"/>
            <a:ext cx="1389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400M+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 14"/>
          <p:cNvSpPr/>
          <p:nvPr/>
        </p:nvSpPr>
        <p:spPr>
          <a:xfrm>
            <a:off x="6144840" y="1289160"/>
            <a:ext cx="1389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Unbanked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Africans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Shape 15"/>
          <p:cNvSpPr/>
          <p:nvPr/>
        </p:nvSpPr>
        <p:spPr>
          <a:xfrm>
            <a:off x="7626240" y="411480"/>
            <a:ext cx="1389240" cy="171828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Text 16"/>
          <p:cNvSpPr/>
          <p:nvPr/>
        </p:nvSpPr>
        <p:spPr>
          <a:xfrm>
            <a:off x="7626240" y="521280"/>
            <a:ext cx="1389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$53B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Text 17"/>
          <p:cNvSpPr/>
          <p:nvPr/>
        </p:nvSpPr>
        <p:spPr>
          <a:xfrm>
            <a:off x="7626240" y="1289160"/>
            <a:ext cx="1389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Annual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Remittances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Shape 18"/>
          <p:cNvSpPr/>
          <p:nvPr/>
        </p:nvSpPr>
        <p:spPr>
          <a:xfrm>
            <a:off x="6144840" y="2286000"/>
            <a:ext cx="1389240" cy="1718280"/>
          </a:xfrm>
          <a:prstGeom prst="rect">
            <a:avLst/>
          </a:prstGeom>
          <a:solidFill>
            <a:srgbClr val="0e1e2b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 19"/>
          <p:cNvSpPr/>
          <p:nvPr/>
        </p:nvSpPr>
        <p:spPr>
          <a:xfrm>
            <a:off x="6144840" y="2395800"/>
            <a:ext cx="1389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2a900"/>
                </a:solidFill>
                <a:latin typeface="Georgia"/>
                <a:ea typeface="Georgia"/>
              </a:rPr>
              <a:t>0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20"/>
          <p:cNvSpPr/>
          <p:nvPr/>
        </p:nvSpPr>
        <p:spPr>
          <a:xfrm>
            <a:off x="6144840" y="3163680"/>
            <a:ext cx="1389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Bitcoin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Credit Scores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7626240" y="2286000"/>
            <a:ext cx="1389240" cy="171828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Text 22"/>
          <p:cNvSpPr/>
          <p:nvPr/>
        </p:nvSpPr>
        <p:spPr>
          <a:xfrm>
            <a:off x="7626240" y="2395800"/>
            <a:ext cx="13892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1db954"/>
                </a:solidFill>
                <a:latin typeface="Georgia"/>
                <a:ea typeface="Georgia"/>
              </a:rPr>
              <a:t>42x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 23"/>
          <p:cNvSpPr/>
          <p:nvPr/>
        </p:nvSpPr>
        <p:spPr>
          <a:xfrm>
            <a:off x="7626240" y="3163680"/>
            <a:ext cx="1389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LTV:CAC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Yr 1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Text 24"/>
          <p:cNvSpPr/>
          <p:nvPr/>
        </p:nvSpPr>
        <p:spPr>
          <a:xfrm>
            <a:off x="475560" y="5047560"/>
            <a:ext cx="45712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DadaHub Residency  ·  Demo Day 2026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0"/>
          <p:cNvSpPr/>
          <p:nvPr/>
        </p:nvSpPr>
        <p:spPr>
          <a:xfrm>
            <a:off x="475560" y="255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6" strike="noStrike">
                <a:solidFill>
                  <a:srgbClr val="1db954"/>
                </a:solidFill>
                <a:latin typeface="Calibri"/>
                <a:ea typeface="Calibri"/>
              </a:rPr>
              <a:t>MINUTE 1  ·  THE PROBLEM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Shape 1"/>
          <p:cNvSpPr/>
          <p:nvPr/>
        </p:nvSpPr>
        <p:spPr>
          <a:xfrm>
            <a:off x="438840" y="749880"/>
            <a:ext cx="4315320" cy="4315320"/>
          </a:xfrm>
          <a:prstGeom prst="rect">
            <a:avLst/>
          </a:prstGeom>
          <a:solidFill>
            <a:srgbClr val="0d2018"/>
          </a:solidFill>
          <a:ln w="190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Shape 2"/>
          <p:cNvSpPr/>
          <p:nvPr/>
        </p:nvSpPr>
        <p:spPr>
          <a:xfrm>
            <a:off x="438840" y="749880"/>
            <a:ext cx="72360" cy="431532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Text 3"/>
          <p:cNvSpPr/>
          <p:nvPr/>
        </p:nvSpPr>
        <p:spPr>
          <a:xfrm>
            <a:off x="658440" y="868680"/>
            <a:ext cx="38397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Meet Aisha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Text 4"/>
          <p:cNvSpPr/>
          <p:nvPr/>
        </p:nvSpPr>
        <p:spPr>
          <a:xfrm>
            <a:off x="658440" y="1353240"/>
            <a:ext cx="3839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Delivery rider, Nairobi  ·  KES 8,000 saved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Shape 5"/>
          <p:cNvSpPr/>
          <p:nvPr/>
        </p:nvSpPr>
        <p:spPr>
          <a:xfrm>
            <a:off x="658440" y="1691640"/>
            <a:ext cx="3766680" cy="3600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8280" bIns="-82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Text 6"/>
          <p:cNvSpPr/>
          <p:nvPr/>
        </p:nvSpPr>
        <p:spPr>
          <a:xfrm>
            <a:off x="658440" y="1810440"/>
            <a:ext cx="3839760" cy="29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"Her money shrinks while she sleeps.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Her bike breaks down.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She needs KES 15,000  fast.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The bank wants 3 months of payslips.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The loan app charges 30%.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She sells her phone to survive.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That is the liquidity trap.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450" spc="-1" strike="noStrike">
                <a:solidFill>
                  <a:srgbClr val="ebf5ef"/>
                </a:solidFill>
                <a:latin typeface="Georgia"/>
                <a:ea typeface="Georgia"/>
              </a:rPr>
              <a:t>400 million Africans live in it."</a:t>
            </a:r>
            <a:endParaRPr b="0" lang="en-US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Shape 7"/>
          <p:cNvSpPr/>
          <p:nvPr/>
        </p:nvSpPr>
        <p:spPr>
          <a:xfrm>
            <a:off x="4956120" y="749880"/>
            <a:ext cx="3821400" cy="20293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8"/>
          <p:cNvSpPr/>
          <p:nvPr/>
        </p:nvSpPr>
        <p:spPr>
          <a:xfrm>
            <a:off x="4956120" y="749880"/>
            <a:ext cx="72360" cy="202932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" name="Image 0" descr="preencoded.png"/>
          <p:cNvPicPr/>
          <p:nvPr/>
        </p:nvPicPr>
        <p:blipFill>
          <a:blip r:embed="rId1"/>
          <a:stretch/>
        </p:blipFill>
        <p:spPr>
          <a:xfrm>
            <a:off x="5139000" y="1005840"/>
            <a:ext cx="529560" cy="529560"/>
          </a:xfrm>
          <a:prstGeom prst="rect">
            <a:avLst/>
          </a:prstGeom>
          <a:ln w="0">
            <a:noFill/>
          </a:ln>
        </p:spPr>
      </p:pic>
      <p:sp>
        <p:nvSpPr>
          <p:cNvPr id="44" name="Text 9"/>
          <p:cNvSpPr/>
          <p:nvPr/>
        </p:nvSpPr>
        <p:spPr>
          <a:xfrm>
            <a:off x="5139000" y="1618560"/>
            <a:ext cx="35197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f2a900"/>
                </a:solidFill>
                <a:latin typeface="Georgia"/>
                <a:ea typeface="Georgia"/>
              </a:rPr>
              <a:t>-7%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10"/>
          <p:cNvSpPr/>
          <p:nvPr/>
        </p:nvSpPr>
        <p:spPr>
          <a:xfrm>
            <a:off x="5139000" y="228600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Kenya Inflation Rate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11"/>
          <p:cNvSpPr/>
          <p:nvPr/>
        </p:nvSpPr>
        <p:spPr>
          <a:xfrm>
            <a:off x="5047560" y="2578680"/>
            <a:ext cx="36201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Savings accounts lose value every year. Silently.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12"/>
          <p:cNvSpPr/>
          <p:nvPr/>
        </p:nvSpPr>
        <p:spPr>
          <a:xfrm>
            <a:off x="4956120" y="2962800"/>
            <a:ext cx="3821400" cy="20293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Shape 13"/>
          <p:cNvSpPr/>
          <p:nvPr/>
        </p:nvSpPr>
        <p:spPr>
          <a:xfrm>
            <a:off x="4956120" y="2962800"/>
            <a:ext cx="72360" cy="202932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" name="Image 1" descr="preencoded.png"/>
          <p:cNvPicPr/>
          <p:nvPr/>
        </p:nvPicPr>
        <p:blipFill>
          <a:blip r:embed="rId2"/>
          <a:stretch/>
        </p:blipFill>
        <p:spPr>
          <a:xfrm>
            <a:off x="5139000" y="3218760"/>
            <a:ext cx="529560" cy="529560"/>
          </a:xfrm>
          <a:prstGeom prst="rect">
            <a:avLst/>
          </a:prstGeom>
          <a:ln w="0">
            <a:noFill/>
          </a:ln>
        </p:spPr>
      </p:pic>
      <p:sp>
        <p:nvSpPr>
          <p:cNvPr id="50" name="Text 14"/>
          <p:cNvSpPr/>
          <p:nvPr/>
        </p:nvSpPr>
        <p:spPr>
          <a:xfrm>
            <a:off x="5139000" y="3831480"/>
            <a:ext cx="351972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pc="-1" strike="noStrike">
                <a:solidFill>
                  <a:srgbClr val="1db954"/>
                </a:solidFill>
                <a:latin typeface="Georgia"/>
                <a:ea typeface="Georgia"/>
              </a:rPr>
              <a:t>30%+</a:t>
            </a:r>
            <a:endParaRPr b="0" lang="en-US" sz="5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Text 15"/>
          <p:cNvSpPr/>
          <p:nvPr/>
        </p:nvSpPr>
        <p:spPr>
          <a:xfrm>
            <a:off x="5139000" y="4498920"/>
            <a:ext cx="3519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Predatory Loan Rates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Text 16"/>
          <p:cNvSpPr/>
          <p:nvPr/>
        </p:nvSpPr>
        <p:spPr>
          <a:xfrm>
            <a:off x="5047560" y="4791600"/>
            <a:ext cx="362016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No credit score = no fair loans. One emergency = debt trap.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 17"/>
          <p:cNvSpPr/>
          <p:nvPr/>
        </p:nvSpPr>
        <p:spPr>
          <a:xfrm>
            <a:off x="438840" y="5139000"/>
            <a:ext cx="8338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IshLu is how Aisha escapes it.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 0"/>
          <p:cNvSpPr/>
          <p:nvPr/>
        </p:nvSpPr>
        <p:spPr>
          <a:xfrm>
            <a:off x="475560" y="255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6" strike="noStrike">
                <a:solidFill>
                  <a:srgbClr val="1db954"/>
                </a:solidFill>
                <a:latin typeface="Calibri"/>
                <a:ea typeface="Calibri"/>
              </a:rPr>
              <a:t>MINUTE 2  ·  LIVE DEMO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438840" y="4133160"/>
            <a:ext cx="49554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5596200" y="749880"/>
            <a:ext cx="3153960" cy="7675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Shape 6"/>
          <p:cNvSpPr/>
          <p:nvPr/>
        </p:nvSpPr>
        <p:spPr>
          <a:xfrm>
            <a:off x="5669280" y="859680"/>
            <a:ext cx="547920" cy="5479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669280" y="868680"/>
            <a:ext cx="5479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6355080" y="82296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Open app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6355080" y="113400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Dashboard with Sats Tree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5596200" y="1609200"/>
            <a:ext cx="3153960" cy="7675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1"/>
          <p:cNvSpPr/>
          <p:nvPr/>
        </p:nvSpPr>
        <p:spPr>
          <a:xfrm>
            <a:off x="5669280" y="1719000"/>
            <a:ext cx="547920" cy="5479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5669280" y="1728360"/>
            <a:ext cx="5479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6355080" y="168264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Tap Save → M-Pesa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6355080" y="199332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Select KES 100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5596200" y="2468880"/>
            <a:ext cx="3153960" cy="7675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Shape 16"/>
          <p:cNvSpPr/>
          <p:nvPr/>
        </p:nvSpPr>
        <p:spPr>
          <a:xfrm>
            <a:off x="5669280" y="2578680"/>
            <a:ext cx="547920" cy="5479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 17"/>
          <p:cNvSpPr/>
          <p:nvPr/>
        </p:nvSpPr>
        <p:spPr>
          <a:xfrm>
            <a:off x="5669280" y="2587680"/>
            <a:ext cx="5479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 18"/>
          <p:cNvSpPr/>
          <p:nvPr/>
        </p:nvSpPr>
        <p:spPr>
          <a:xfrm>
            <a:off x="6355080" y="254196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Phone vibrates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6355080" y="285300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M-Pesa STK Push arrives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Shape 20"/>
          <p:cNvSpPr/>
          <p:nvPr/>
        </p:nvSpPr>
        <p:spPr>
          <a:xfrm>
            <a:off x="5596200" y="3328560"/>
            <a:ext cx="3153960" cy="7675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21"/>
          <p:cNvSpPr/>
          <p:nvPr/>
        </p:nvSpPr>
        <p:spPr>
          <a:xfrm>
            <a:off x="5669280" y="3438000"/>
            <a:ext cx="547920" cy="5479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 22"/>
          <p:cNvSpPr/>
          <p:nvPr/>
        </p:nvSpPr>
        <p:spPr>
          <a:xfrm>
            <a:off x="5669280" y="3447360"/>
            <a:ext cx="5479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 23"/>
          <p:cNvSpPr/>
          <p:nvPr/>
        </p:nvSpPr>
        <p:spPr>
          <a:xfrm>
            <a:off x="6355080" y="340164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Enter PIN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Text 24"/>
          <p:cNvSpPr/>
          <p:nvPr/>
        </p:nvSpPr>
        <p:spPr>
          <a:xfrm>
            <a:off x="6355080" y="371232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Tap Confirm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25"/>
          <p:cNvSpPr/>
          <p:nvPr/>
        </p:nvSpPr>
        <p:spPr>
          <a:xfrm>
            <a:off x="5596200" y="4187880"/>
            <a:ext cx="3153960" cy="7675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Shape 26"/>
          <p:cNvSpPr/>
          <p:nvPr/>
        </p:nvSpPr>
        <p:spPr>
          <a:xfrm>
            <a:off x="5669280" y="4297680"/>
            <a:ext cx="547920" cy="54792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27"/>
          <p:cNvSpPr/>
          <p:nvPr/>
        </p:nvSpPr>
        <p:spPr>
          <a:xfrm>
            <a:off x="5669280" y="4306680"/>
            <a:ext cx="54792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 28"/>
          <p:cNvSpPr/>
          <p:nvPr/>
        </p:nvSpPr>
        <p:spPr>
          <a:xfrm>
            <a:off x="6355080" y="426096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Sats credited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9"/>
          <p:cNvSpPr/>
          <p:nvPr/>
        </p:nvSpPr>
        <p:spPr>
          <a:xfrm>
            <a:off x="6355080" y="457200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c7a6a"/>
                </a:solidFill>
                <a:latin typeface="Calibri"/>
                <a:ea typeface="Calibri"/>
              </a:rPr>
              <a:t>Tree grows. Balance updates.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Shape 30"/>
          <p:cNvSpPr/>
          <p:nvPr/>
        </p:nvSpPr>
        <p:spPr>
          <a:xfrm>
            <a:off x="5596200" y="5047560"/>
            <a:ext cx="3153960" cy="34668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31"/>
          <p:cNvSpPr/>
          <p:nvPr/>
        </p:nvSpPr>
        <p:spPr>
          <a:xfrm>
            <a:off x="5596200" y="5047560"/>
            <a:ext cx="315396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07111c"/>
                </a:solidFill>
                <a:latin typeface="Georgia"/>
                <a:ea typeface="Georgia"/>
              </a:rPr>
              <a:t>KES 100 → 750 sats. Bitcoin. Forever.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83" name="" descr="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949400" y="549000"/>
            <a:ext cx="1934280" cy="4299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ext 0"/>
          <p:cNvSpPr/>
          <p:nvPr/>
        </p:nvSpPr>
        <p:spPr>
          <a:xfrm>
            <a:off x="475560" y="255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6" strike="noStrike">
                <a:solidFill>
                  <a:srgbClr val="186b3a"/>
                </a:solidFill>
                <a:latin typeface="Calibri"/>
                <a:ea typeface="Calibri"/>
              </a:rPr>
              <a:t>MINUTE 3  ·  THE TECH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75560" y="65844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07111c"/>
                </a:solidFill>
                <a:latin typeface="Georgia"/>
                <a:ea typeface="Georgia"/>
              </a:rPr>
              <a:t>Three layers make this special.</a:t>
            </a:r>
            <a:endParaRPr b="0" lang="en-US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438840" y="1371600"/>
            <a:ext cx="8338680" cy="1114920"/>
          </a:xfrm>
          <a:prstGeom prst="rect">
            <a:avLst/>
          </a:prstGeom>
          <a:solidFill>
            <a:srgbClr val="f4faf6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Shape 3"/>
          <p:cNvSpPr/>
          <p:nvPr/>
        </p:nvSpPr>
        <p:spPr>
          <a:xfrm>
            <a:off x="567000" y="1527120"/>
            <a:ext cx="803880" cy="8038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8" name="Image 0" descr="preencoded.png"/>
          <p:cNvPicPr/>
          <p:nvPr/>
        </p:nvPicPr>
        <p:blipFill>
          <a:blip r:embed="rId1"/>
          <a:stretch/>
        </p:blipFill>
        <p:spPr>
          <a:xfrm>
            <a:off x="667440" y="1627560"/>
            <a:ext cx="602640" cy="602640"/>
          </a:xfrm>
          <a:prstGeom prst="rect">
            <a:avLst/>
          </a:prstGeom>
          <a:ln w="0">
            <a:noFill/>
          </a:ln>
        </p:spPr>
      </p:pic>
      <p:sp>
        <p:nvSpPr>
          <p:cNvPr id="89" name="Text 4"/>
          <p:cNvSpPr/>
          <p:nvPr/>
        </p:nvSpPr>
        <p:spPr>
          <a:xfrm>
            <a:off x="1508760" y="1444680"/>
            <a:ext cx="502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rgbClr val="f2a900"/>
                </a:solidFill>
                <a:latin typeface="Calibri"/>
                <a:ea typeface="Calibri"/>
              </a:rPr>
              <a:t>01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 5"/>
          <p:cNvSpPr/>
          <p:nvPr/>
        </p:nvSpPr>
        <p:spPr>
          <a:xfrm>
            <a:off x="1508760" y="1627560"/>
            <a:ext cx="2193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Lightning Network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6"/>
          <p:cNvSpPr/>
          <p:nvPr/>
        </p:nvSpPr>
        <p:spPr>
          <a:xfrm>
            <a:off x="3858840" y="1444680"/>
            <a:ext cx="4827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The fastest payment rail on earth. Sats settle in seconds. Non-custodial per-user wallets.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 7"/>
          <p:cNvSpPr/>
          <p:nvPr/>
        </p:nvSpPr>
        <p:spPr>
          <a:xfrm>
            <a:off x="567000" y="2240280"/>
            <a:ext cx="8119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Breez SDK  ·  LNbits  ·  M-Pesa Daraja STK Push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8"/>
          <p:cNvSpPr/>
          <p:nvPr/>
        </p:nvSpPr>
        <p:spPr>
          <a:xfrm>
            <a:off x="438840" y="2651760"/>
            <a:ext cx="8338680" cy="111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9"/>
          <p:cNvSpPr/>
          <p:nvPr/>
        </p:nvSpPr>
        <p:spPr>
          <a:xfrm>
            <a:off x="567000" y="2807280"/>
            <a:ext cx="803880" cy="8038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5" name="Image 1" descr="preencoded.png"/>
          <p:cNvPicPr/>
          <p:nvPr/>
        </p:nvPicPr>
        <p:blipFill>
          <a:blip r:embed="rId2"/>
          <a:stretch/>
        </p:blipFill>
        <p:spPr>
          <a:xfrm>
            <a:off x="667440" y="2907720"/>
            <a:ext cx="602640" cy="602640"/>
          </a:xfrm>
          <a:prstGeom prst="rect">
            <a:avLst/>
          </a:prstGeom>
          <a:ln w="0">
            <a:noFill/>
          </a:ln>
        </p:spPr>
      </p:pic>
      <p:sp>
        <p:nvSpPr>
          <p:cNvPr id="96" name="Text 10"/>
          <p:cNvSpPr/>
          <p:nvPr/>
        </p:nvSpPr>
        <p:spPr>
          <a:xfrm>
            <a:off x="1508760" y="2724840"/>
            <a:ext cx="502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rgbClr val="186b3a"/>
                </a:solidFill>
                <a:latin typeface="Calibri"/>
                <a:ea typeface="Calibri"/>
              </a:rPr>
              <a:t>02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 11"/>
          <p:cNvSpPr/>
          <p:nvPr/>
        </p:nvSpPr>
        <p:spPr>
          <a:xfrm>
            <a:off x="1508760" y="2907720"/>
            <a:ext cx="2193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Trust Score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Text 12"/>
          <p:cNvSpPr/>
          <p:nvPr/>
        </p:nvSpPr>
        <p:spPr>
          <a:xfrm>
            <a:off x="3858840" y="2724840"/>
            <a:ext cx="4827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Proprietary 5-factor algorithm. 300–850 scale. Like FICO — but Bitcoin-native. No bank needed. No payslips. Just behavior.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3"/>
          <p:cNvSpPr/>
          <p:nvPr/>
        </p:nvSpPr>
        <p:spPr>
          <a:xfrm>
            <a:off x="567000" y="3520440"/>
            <a:ext cx="8119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35% Consistency  ·  25% Goals  ·  15% Tenure  ·  15% Velocity  ·  10% Repayment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Shape 14"/>
          <p:cNvSpPr/>
          <p:nvPr/>
        </p:nvSpPr>
        <p:spPr>
          <a:xfrm>
            <a:off x="438840" y="3931920"/>
            <a:ext cx="8338680" cy="1114920"/>
          </a:xfrm>
          <a:prstGeom prst="rect">
            <a:avLst/>
          </a:prstGeom>
          <a:solidFill>
            <a:srgbClr val="f4faf6"/>
          </a:solidFill>
          <a:ln w="12700">
            <a:solidFill>
              <a:srgbClr val="d0e8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5"/>
          <p:cNvSpPr/>
          <p:nvPr/>
        </p:nvSpPr>
        <p:spPr>
          <a:xfrm>
            <a:off x="567000" y="4087440"/>
            <a:ext cx="803880" cy="8038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2" name="Image 2" descr="preencoded.png"/>
          <p:cNvPicPr/>
          <p:nvPr/>
        </p:nvPicPr>
        <p:blipFill>
          <a:blip r:embed="rId3"/>
          <a:stretch/>
        </p:blipFill>
        <p:spPr>
          <a:xfrm>
            <a:off x="667440" y="4187880"/>
            <a:ext cx="602640" cy="602640"/>
          </a:xfrm>
          <a:prstGeom prst="rect">
            <a:avLst/>
          </a:prstGeom>
          <a:ln w="0">
            <a:noFill/>
          </a:ln>
        </p:spPr>
      </p:pic>
      <p:sp>
        <p:nvSpPr>
          <p:cNvPr id="103" name="Text 16"/>
          <p:cNvSpPr/>
          <p:nvPr/>
        </p:nvSpPr>
        <p:spPr>
          <a:xfrm>
            <a:off x="1508760" y="4005000"/>
            <a:ext cx="50220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pc="94" strike="noStrike">
                <a:solidFill>
                  <a:srgbClr val="f2a900"/>
                </a:solidFill>
                <a:latin typeface="Calibri"/>
                <a:ea typeface="Calibri"/>
              </a:rPr>
              <a:t>03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Text 17"/>
          <p:cNvSpPr/>
          <p:nvPr/>
        </p:nvSpPr>
        <p:spPr>
          <a:xfrm>
            <a:off x="1508760" y="4187880"/>
            <a:ext cx="2193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07111c"/>
                </a:solidFill>
                <a:latin typeface="Georgia"/>
                <a:ea typeface="Georgia"/>
              </a:rPr>
              <a:t>Akili AI Coach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Text 18"/>
          <p:cNvSpPr/>
          <p:nvPr/>
        </p:nvSpPr>
        <p:spPr>
          <a:xfrm>
            <a:off x="3858840" y="4005000"/>
            <a:ext cx="48272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444444"/>
                </a:solidFill>
                <a:latin typeface="Calibri"/>
                <a:ea typeface="Calibri"/>
              </a:rPr>
              <a:t>Explains your score in plain English and Swahili. Personalized nudges. Offline fallback.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19"/>
          <p:cNvSpPr/>
          <p:nvPr/>
        </p:nvSpPr>
        <p:spPr>
          <a:xfrm>
            <a:off x="567000" y="4800600"/>
            <a:ext cx="811908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Claude (Anthropic)  ·  English + Swahili  ·  Offline fallback mode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475560" y="255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6" strike="noStrike">
                <a:solidFill>
                  <a:srgbClr val="1db954"/>
                </a:solidFill>
                <a:latin typeface="Calibri"/>
                <a:ea typeface="Calibri"/>
              </a:rPr>
              <a:t>THE MOAT  ·  TRUST SCORE ALGORITHM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Shape 1"/>
          <p:cNvSpPr/>
          <p:nvPr/>
        </p:nvSpPr>
        <p:spPr>
          <a:xfrm>
            <a:off x="411480" y="914400"/>
            <a:ext cx="3291120" cy="3291120"/>
          </a:xfrm>
          <a:prstGeom prst="ellipse">
            <a:avLst/>
          </a:prstGeom>
          <a:solidFill>
            <a:srgbClr val="0e1e2b"/>
          </a:solidFill>
          <a:ln w="381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411480" y="1508760"/>
            <a:ext cx="3291120" cy="11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600" spc="-1" strike="noStrike">
                <a:solidFill>
                  <a:srgbClr val="f2a900"/>
                </a:solidFill>
                <a:latin typeface="Georgia"/>
                <a:ea typeface="Georgia"/>
              </a:rPr>
              <a:t>842</a:t>
            </a:r>
            <a:endParaRPr b="0" lang="en-US" sz="8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Text 3"/>
          <p:cNvSpPr/>
          <p:nvPr/>
        </p:nvSpPr>
        <p:spPr>
          <a:xfrm>
            <a:off x="411480" y="2670120"/>
            <a:ext cx="32911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395" strike="noStrike">
                <a:solidFill>
                  <a:srgbClr val="f2a900"/>
                </a:solidFill>
                <a:latin typeface="Calibri"/>
                <a:ea typeface="Calibri"/>
              </a:rPr>
              <a:t>PLATINUM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11480" y="3054240"/>
            <a:ext cx="32911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db954"/>
                </a:solidFill>
                <a:latin typeface="Calibri"/>
                <a:ea typeface="Calibri"/>
              </a:rPr>
              <a:t>Max loan: 500,000 sats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3913560" y="914400"/>
            <a:ext cx="4863960" cy="6577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6"/>
          <p:cNvSpPr/>
          <p:nvPr/>
        </p:nvSpPr>
        <p:spPr>
          <a:xfrm>
            <a:off x="3986640" y="1005840"/>
            <a:ext cx="7491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35%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7"/>
          <p:cNvSpPr/>
          <p:nvPr/>
        </p:nvSpPr>
        <p:spPr>
          <a:xfrm>
            <a:off x="4800600" y="987480"/>
            <a:ext cx="387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Savings Consistency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4800600" y="1280160"/>
            <a:ext cx="3876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Weekly saving frequency over 8 weeks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Shape 9"/>
          <p:cNvSpPr/>
          <p:nvPr/>
        </p:nvSpPr>
        <p:spPr>
          <a:xfrm>
            <a:off x="7315200" y="1170360"/>
            <a:ext cx="1389240" cy="907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7315200" y="1170360"/>
            <a:ext cx="1389240" cy="9072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3913560" y="1664280"/>
            <a:ext cx="4863960" cy="6577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3986640" y="1755720"/>
            <a:ext cx="7491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25%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4800600" y="1737360"/>
            <a:ext cx="387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Goal Completion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4"/>
          <p:cNvSpPr/>
          <p:nvPr/>
        </p:nvSpPr>
        <p:spPr>
          <a:xfrm>
            <a:off x="4800600" y="2030040"/>
            <a:ext cx="3876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Goals hit on time vs. withdrawn early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7315200" y="1920240"/>
            <a:ext cx="1389240" cy="907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16"/>
          <p:cNvSpPr/>
          <p:nvPr/>
        </p:nvSpPr>
        <p:spPr>
          <a:xfrm>
            <a:off x="7315200" y="1920240"/>
            <a:ext cx="1028160" cy="9072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7"/>
          <p:cNvSpPr/>
          <p:nvPr/>
        </p:nvSpPr>
        <p:spPr>
          <a:xfrm>
            <a:off x="3913560" y="2414160"/>
            <a:ext cx="4863960" cy="6577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 18"/>
          <p:cNvSpPr/>
          <p:nvPr/>
        </p:nvSpPr>
        <p:spPr>
          <a:xfrm>
            <a:off x="3986640" y="2505600"/>
            <a:ext cx="7491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9"/>
          <p:cNvSpPr/>
          <p:nvPr/>
        </p:nvSpPr>
        <p:spPr>
          <a:xfrm>
            <a:off x="4800600" y="2487240"/>
            <a:ext cx="387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Account Tenure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4800600" y="2779920"/>
            <a:ext cx="3876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Days on platform (log curve)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Shape 21"/>
          <p:cNvSpPr/>
          <p:nvPr/>
        </p:nvSpPr>
        <p:spPr>
          <a:xfrm>
            <a:off x="7315200" y="2670120"/>
            <a:ext cx="1389240" cy="907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22"/>
          <p:cNvSpPr/>
          <p:nvPr/>
        </p:nvSpPr>
        <p:spPr>
          <a:xfrm>
            <a:off x="7315200" y="2670120"/>
            <a:ext cx="616680" cy="9072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3913560" y="3163680"/>
            <a:ext cx="4863960" cy="6577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3986640" y="3255120"/>
            <a:ext cx="7491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15%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4800600" y="3237120"/>
            <a:ext cx="387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Savings Velocity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 26"/>
          <p:cNvSpPr/>
          <p:nvPr/>
        </p:nvSpPr>
        <p:spPr>
          <a:xfrm>
            <a:off x="4800600" y="3529440"/>
            <a:ext cx="3876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Month-over-month sats growth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Shape 27"/>
          <p:cNvSpPr/>
          <p:nvPr/>
        </p:nvSpPr>
        <p:spPr>
          <a:xfrm>
            <a:off x="7315200" y="3420000"/>
            <a:ext cx="1389240" cy="907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Shape 28"/>
          <p:cNvSpPr/>
          <p:nvPr/>
        </p:nvSpPr>
        <p:spPr>
          <a:xfrm>
            <a:off x="7315200" y="3420000"/>
            <a:ext cx="616680" cy="9072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Shape 29"/>
          <p:cNvSpPr/>
          <p:nvPr/>
        </p:nvSpPr>
        <p:spPr>
          <a:xfrm>
            <a:off x="3913560" y="3913560"/>
            <a:ext cx="4863960" cy="657720"/>
          </a:xfrm>
          <a:prstGeom prst="rect">
            <a:avLst/>
          </a:prstGeom>
          <a:solidFill>
            <a:srgbClr val="0e1e2b"/>
          </a:solidFill>
          <a:ln w="1270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30"/>
          <p:cNvSpPr/>
          <p:nvPr/>
        </p:nvSpPr>
        <p:spPr>
          <a:xfrm>
            <a:off x="3986640" y="4005000"/>
            <a:ext cx="7491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a900"/>
                </a:solidFill>
                <a:latin typeface="Georgia"/>
                <a:ea typeface="Georgia"/>
              </a:rPr>
              <a:t>10%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 31"/>
          <p:cNvSpPr/>
          <p:nvPr/>
        </p:nvSpPr>
        <p:spPr>
          <a:xfrm>
            <a:off x="4800600" y="3986640"/>
            <a:ext cx="3876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Loan Repayment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32"/>
          <p:cNvSpPr/>
          <p:nvPr/>
        </p:nvSpPr>
        <p:spPr>
          <a:xfrm>
            <a:off x="4800600" y="4279320"/>
            <a:ext cx="3876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On-time repayment rate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Shape 33"/>
          <p:cNvSpPr/>
          <p:nvPr/>
        </p:nvSpPr>
        <p:spPr>
          <a:xfrm>
            <a:off x="7315200" y="4169520"/>
            <a:ext cx="1389240" cy="9072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34"/>
          <p:cNvSpPr/>
          <p:nvPr/>
        </p:nvSpPr>
        <p:spPr>
          <a:xfrm>
            <a:off x="7315200" y="4169520"/>
            <a:ext cx="410760" cy="90720"/>
          </a:xfrm>
          <a:prstGeom prst="rect">
            <a:avLst/>
          </a:prstGeom>
          <a:solidFill>
            <a:srgbClr val="1db954"/>
          </a:solidFill>
          <a:ln w="635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Shape 35"/>
          <p:cNvSpPr/>
          <p:nvPr/>
        </p:nvSpPr>
        <p:spPr>
          <a:xfrm>
            <a:off x="411480" y="4663440"/>
            <a:ext cx="621000" cy="5295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36"/>
          <p:cNvSpPr/>
          <p:nvPr/>
        </p:nvSpPr>
        <p:spPr>
          <a:xfrm>
            <a:off x="411480" y="4663440"/>
            <a:ext cx="621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🌱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37"/>
          <p:cNvSpPr/>
          <p:nvPr/>
        </p:nvSpPr>
        <p:spPr>
          <a:xfrm>
            <a:off x="411480" y="4937760"/>
            <a:ext cx="621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Seed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300+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Shape 38"/>
          <p:cNvSpPr/>
          <p:nvPr/>
        </p:nvSpPr>
        <p:spPr>
          <a:xfrm>
            <a:off x="1078920" y="4663440"/>
            <a:ext cx="621000" cy="5295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39"/>
          <p:cNvSpPr/>
          <p:nvPr/>
        </p:nvSpPr>
        <p:spPr>
          <a:xfrm>
            <a:off x="1078920" y="4663440"/>
            <a:ext cx="621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🥉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40"/>
          <p:cNvSpPr/>
          <p:nvPr/>
        </p:nvSpPr>
        <p:spPr>
          <a:xfrm>
            <a:off x="1078920" y="4937760"/>
            <a:ext cx="621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Bronze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450+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41"/>
          <p:cNvSpPr/>
          <p:nvPr/>
        </p:nvSpPr>
        <p:spPr>
          <a:xfrm>
            <a:off x="1746360" y="4663440"/>
            <a:ext cx="621000" cy="5295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Text 42"/>
          <p:cNvSpPr/>
          <p:nvPr/>
        </p:nvSpPr>
        <p:spPr>
          <a:xfrm>
            <a:off x="1746360" y="4663440"/>
            <a:ext cx="621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🥈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43"/>
          <p:cNvSpPr/>
          <p:nvPr/>
        </p:nvSpPr>
        <p:spPr>
          <a:xfrm>
            <a:off x="1746360" y="4937760"/>
            <a:ext cx="621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Silver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600+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Shape 44"/>
          <p:cNvSpPr/>
          <p:nvPr/>
        </p:nvSpPr>
        <p:spPr>
          <a:xfrm>
            <a:off x="2414160" y="4663440"/>
            <a:ext cx="621000" cy="52956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 45"/>
          <p:cNvSpPr/>
          <p:nvPr/>
        </p:nvSpPr>
        <p:spPr>
          <a:xfrm>
            <a:off x="2414160" y="4663440"/>
            <a:ext cx="621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Text 46"/>
          <p:cNvSpPr/>
          <p:nvPr/>
        </p:nvSpPr>
        <p:spPr>
          <a:xfrm>
            <a:off x="2414160" y="4937760"/>
            <a:ext cx="621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Gold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5c7a6a"/>
                </a:solidFill>
                <a:latin typeface="Calibri"/>
                <a:ea typeface="Calibri"/>
              </a:rPr>
              <a:t>750+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Shape 47"/>
          <p:cNvSpPr/>
          <p:nvPr/>
        </p:nvSpPr>
        <p:spPr>
          <a:xfrm>
            <a:off x="3081600" y="4663440"/>
            <a:ext cx="621000" cy="52956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48"/>
          <p:cNvSpPr/>
          <p:nvPr/>
        </p:nvSpPr>
        <p:spPr>
          <a:xfrm>
            <a:off x="3081600" y="4663440"/>
            <a:ext cx="6210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Calibri"/>
              </a:rPr>
              <a:t>💎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9"/>
          <p:cNvSpPr/>
          <p:nvPr/>
        </p:nvSpPr>
        <p:spPr>
          <a:xfrm>
            <a:off x="3081600" y="4937760"/>
            <a:ext cx="621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7111c"/>
                </a:solidFill>
                <a:latin typeface="Calibri"/>
                <a:ea typeface="Calibri"/>
              </a:rPr>
              <a:t>Platinum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pc="-1" strike="noStrike">
                <a:solidFill>
                  <a:srgbClr val="07111c"/>
                </a:solidFill>
                <a:latin typeface="Calibri"/>
                <a:ea typeface="Calibri"/>
              </a:rPr>
              <a:t>850+</a:t>
            </a:r>
            <a:endParaRPr b="0" lang="en-US" sz="8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 50"/>
          <p:cNvSpPr/>
          <p:nvPr/>
        </p:nvSpPr>
        <p:spPr>
          <a:xfrm>
            <a:off x="3913560" y="4709160"/>
            <a:ext cx="48639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Score persists on-chain forever. Every user's history is a data flywheel competitors can't replicate.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Text 0"/>
          <p:cNvSpPr/>
          <p:nvPr/>
        </p:nvSpPr>
        <p:spPr>
          <a:xfrm>
            <a:off x="475560" y="255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6" strike="noStrike">
                <a:solidFill>
                  <a:srgbClr val="186b3a"/>
                </a:solidFill>
                <a:latin typeface="Calibri"/>
                <a:ea typeface="Calibri"/>
              </a:rPr>
              <a:t>MINUTE 4  ·  REAL USER FEEDBACK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1"/>
          <p:cNvSpPr/>
          <p:nvPr/>
        </p:nvSpPr>
        <p:spPr>
          <a:xfrm>
            <a:off x="475560" y="658440"/>
            <a:ext cx="7771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7111c"/>
                </a:solidFill>
                <a:latin typeface="Georgia"/>
                <a:ea typeface="Georgia"/>
              </a:rPr>
              <a:t>We tested with real users in Nairobi.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2"/>
          <p:cNvSpPr/>
          <p:nvPr/>
        </p:nvSpPr>
        <p:spPr>
          <a:xfrm>
            <a:off x="438840" y="1298520"/>
            <a:ext cx="2651040" cy="306252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Shape 3"/>
          <p:cNvSpPr/>
          <p:nvPr/>
        </p:nvSpPr>
        <p:spPr>
          <a:xfrm>
            <a:off x="438840" y="1298520"/>
            <a:ext cx="2651040" cy="6336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Shape 4"/>
          <p:cNvSpPr/>
          <p:nvPr/>
        </p:nvSpPr>
        <p:spPr>
          <a:xfrm>
            <a:off x="1362600" y="1444680"/>
            <a:ext cx="803880" cy="8038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3" name="Image 0" descr="preencoded.png"/>
          <p:cNvPicPr/>
          <p:nvPr/>
        </p:nvPicPr>
        <p:blipFill>
          <a:blip r:embed="rId1"/>
          <a:stretch/>
        </p:blipFill>
        <p:spPr>
          <a:xfrm>
            <a:off x="1472040" y="155448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164" name="Text 5"/>
          <p:cNvSpPr/>
          <p:nvPr/>
        </p:nvSpPr>
        <p:spPr>
          <a:xfrm>
            <a:off x="438840" y="23590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86b3a"/>
                </a:solidFill>
                <a:latin typeface="Georgia"/>
                <a:ea typeface="Georgia"/>
              </a:rPr>
              <a:t>3 sec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6"/>
          <p:cNvSpPr/>
          <p:nvPr/>
        </p:nvSpPr>
        <p:spPr>
          <a:xfrm>
            <a:off x="438840" y="294444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M-Pesa prompt arrives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Text 7"/>
          <p:cNvSpPr/>
          <p:nvPr/>
        </p:nvSpPr>
        <p:spPr>
          <a:xfrm>
            <a:off x="548640" y="3337560"/>
            <a:ext cx="24498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"It came before I even put my phone down."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Shape 8"/>
          <p:cNvSpPr/>
          <p:nvPr/>
        </p:nvSpPr>
        <p:spPr>
          <a:xfrm>
            <a:off x="3273480" y="1298520"/>
            <a:ext cx="2651040" cy="306252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Shape 9"/>
          <p:cNvSpPr/>
          <p:nvPr/>
        </p:nvSpPr>
        <p:spPr>
          <a:xfrm>
            <a:off x="3273480" y="1298520"/>
            <a:ext cx="2651040" cy="6336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Shape 10"/>
          <p:cNvSpPr/>
          <p:nvPr/>
        </p:nvSpPr>
        <p:spPr>
          <a:xfrm>
            <a:off x="4197240" y="1444680"/>
            <a:ext cx="803880" cy="8038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0" name="Image 1" descr="preencoded.png"/>
          <p:cNvPicPr/>
          <p:nvPr/>
        </p:nvPicPr>
        <p:blipFill>
          <a:blip r:embed="rId2"/>
          <a:stretch/>
        </p:blipFill>
        <p:spPr>
          <a:xfrm>
            <a:off x="4306680" y="155448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171" name="Text 11"/>
          <p:cNvSpPr/>
          <p:nvPr/>
        </p:nvSpPr>
        <p:spPr>
          <a:xfrm>
            <a:off x="3273480" y="23590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f2a900"/>
                </a:solidFill>
                <a:latin typeface="Georgia"/>
                <a:ea typeface="Georgia"/>
              </a:rPr>
              <a:t>Instant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Text 12"/>
          <p:cNvSpPr/>
          <p:nvPr/>
        </p:nvSpPr>
        <p:spPr>
          <a:xfrm>
            <a:off x="3273480" y="294444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KES → sats conversion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3383280" y="3337560"/>
            <a:ext cx="24498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 understood it immediately. 100 shillings = 750 sats."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6108120" y="1298520"/>
            <a:ext cx="2651040" cy="306252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Shape 15"/>
          <p:cNvSpPr/>
          <p:nvPr/>
        </p:nvSpPr>
        <p:spPr>
          <a:xfrm>
            <a:off x="6108120" y="1298520"/>
            <a:ext cx="2651040" cy="6336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Shape 16"/>
          <p:cNvSpPr/>
          <p:nvPr/>
        </p:nvSpPr>
        <p:spPr>
          <a:xfrm>
            <a:off x="7031880" y="1444680"/>
            <a:ext cx="803880" cy="8038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Image 2" descr="preencoded.png"/>
          <p:cNvPicPr/>
          <p:nvPr/>
        </p:nvPicPr>
        <p:blipFill>
          <a:blip r:embed="rId3"/>
          <a:stretch/>
        </p:blipFill>
        <p:spPr>
          <a:xfrm>
            <a:off x="7141320" y="155448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178" name="Text 17"/>
          <p:cNvSpPr/>
          <p:nvPr/>
        </p:nvSpPr>
        <p:spPr>
          <a:xfrm>
            <a:off x="6108120" y="2359080"/>
            <a:ext cx="265104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600" spc="-1" strike="noStrike">
                <a:solidFill>
                  <a:srgbClr val="186b3a"/>
                </a:solidFill>
                <a:latin typeface="Georgia"/>
                <a:ea typeface="Georgia"/>
              </a:rPr>
              <a:t>🌳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18"/>
          <p:cNvSpPr/>
          <p:nvPr/>
        </p:nvSpPr>
        <p:spPr>
          <a:xfrm>
            <a:off x="6108120" y="2944440"/>
            <a:ext cx="26510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07111c"/>
                </a:solidFill>
                <a:latin typeface="Calibri"/>
                <a:ea typeface="Calibri"/>
              </a:rPr>
              <a:t>Sats Tree engagement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6217920" y="3337560"/>
            <a:ext cx="244980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444444"/>
                </a:solidFill>
                <a:latin typeface="Georgia"/>
                <a:ea typeface="Georgia"/>
              </a:rPr>
              <a:t>"I didn't want to break my streak. That's the point."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0"/>
          <p:cNvSpPr/>
          <p:nvPr/>
        </p:nvSpPr>
        <p:spPr>
          <a:xfrm>
            <a:off x="438840" y="4526280"/>
            <a:ext cx="8338680" cy="712440"/>
          </a:xfrm>
          <a:prstGeom prst="rect">
            <a:avLst/>
          </a:prstGeom>
          <a:solidFill>
            <a:srgbClr val="07111c"/>
          </a:solidFill>
          <a:ln w="6350">
            <a:solidFill>
              <a:srgbClr val="0711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Text 21"/>
          <p:cNvSpPr/>
          <p:nvPr/>
        </p:nvSpPr>
        <p:spPr>
          <a:xfrm>
            <a:off x="621720" y="4572000"/>
            <a:ext cx="20109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Demo Day Metrics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2743200" y="4553640"/>
            <a:ext cx="116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10+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2743200" y="4919400"/>
            <a:ext cx="1169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Users signed up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3977640" y="4553640"/>
            <a:ext cx="116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5+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3977640" y="4919400"/>
            <a:ext cx="1169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Deposits made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Text 26"/>
          <p:cNvSpPr/>
          <p:nvPr/>
        </p:nvSpPr>
        <p:spPr>
          <a:xfrm>
            <a:off x="5212080" y="4553640"/>
            <a:ext cx="116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20+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27"/>
          <p:cNvSpPr/>
          <p:nvPr/>
        </p:nvSpPr>
        <p:spPr>
          <a:xfrm>
            <a:off x="5212080" y="4919400"/>
            <a:ext cx="1169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Trust Score calcs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8"/>
          <p:cNvSpPr/>
          <p:nvPr/>
        </p:nvSpPr>
        <p:spPr>
          <a:xfrm>
            <a:off x="6446520" y="4553640"/>
            <a:ext cx="116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3+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29"/>
          <p:cNvSpPr/>
          <p:nvPr/>
        </p:nvSpPr>
        <p:spPr>
          <a:xfrm>
            <a:off x="6446520" y="4919400"/>
            <a:ext cx="1169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Lightning settled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Text 30"/>
          <p:cNvSpPr/>
          <p:nvPr/>
        </p:nvSpPr>
        <p:spPr>
          <a:xfrm>
            <a:off x="7680960" y="4553640"/>
            <a:ext cx="116964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1db954"/>
                </a:solidFill>
                <a:latin typeface="Georgia"/>
                <a:ea typeface="Georgia"/>
              </a:rPr>
              <a:t>450+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 31"/>
          <p:cNvSpPr/>
          <p:nvPr/>
        </p:nvSpPr>
        <p:spPr>
          <a:xfrm>
            <a:off x="7680960" y="4919400"/>
            <a:ext cx="116964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pc="-1" strike="noStrike">
                <a:solidFill>
                  <a:srgbClr val="5c7a6a"/>
                </a:solidFill>
                <a:latin typeface="Calibri"/>
                <a:ea typeface="Calibri"/>
              </a:rPr>
              <a:t>Avg Trust Score</a:t>
            </a:r>
            <a:endParaRPr b="0" lang="en-US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 0"/>
          <p:cNvSpPr/>
          <p:nvPr/>
        </p:nvSpPr>
        <p:spPr>
          <a:xfrm>
            <a:off x="475560" y="255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6" strike="noStrike">
                <a:solidFill>
                  <a:srgbClr val="1db954"/>
                </a:solidFill>
                <a:latin typeface="Calibri"/>
                <a:ea typeface="Calibri"/>
              </a:rPr>
              <a:t>MARKET OPPORTUNITY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Text 1"/>
          <p:cNvSpPr/>
          <p:nvPr/>
        </p:nvSpPr>
        <p:spPr>
          <a:xfrm>
            <a:off x="475560" y="658440"/>
            <a:ext cx="777168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pc="-1" strike="noStrike">
                <a:solidFill>
                  <a:srgbClr val="ffffff"/>
                </a:solidFill>
                <a:latin typeface="Georgia"/>
                <a:ea typeface="Georgia"/>
              </a:rPr>
              <a:t>A $50B+ market hiding in plain sight.</a:t>
            </a:r>
            <a:endParaRPr b="0" lang="en-US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Shape 2"/>
          <p:cNvSpPr/>
          <p:nvPr/>
        </p:nvSpPr>
        <p:spPr>
          <a:xfrm>
            <a:off x="411480" y="1353240"/>
            <a:ext cx="2029320" cy="263268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3"/>
          <p:cNvSpPr/>
          <p:nvPr/>
        </p:nvSpPr>
        <p:spPr>
          <a:xfrm>
            <a:off x="411480" y="1508760"/>
            <a:ext cx="2029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400M+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4"/>
          <p:cNvSpPr/>
          <p:nvPr/>
        </p:nvSpPr>
        <p:spPr>
          <a:xfrm>
            <a:off x="411480" y="2487240"/>
            <a:ext cx="2029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Unbanked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Africans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5"/>
          <p:cNvSpPr/>
          <p:nvPr/>
        </p:nvSpPr>
        <p:spPr>
          <a:xfrm>
            <a:off x="411480" y="3090600"/>
            <a:ext cx="20293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Total addressable market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Shape 6"/>
          <p:cNvSpPr/>
          <p:nvPr/>
        </p:nvSpPr>
        <p:spPr>
          <a:xfrm>
            <a:off x="2606040" y="1353240"/>
            <a:ext cx="2029320" cy="263268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7"/>
          <p:cNvSpPr/>
          <p:nvPr/>
        </p:nvSpPr>
        <p:spPr>
          <a:xfrm>
            <a:off x="2606040" y="1508760"/>
            <a:ext cx="2029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$53B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8"/>
          <p:cNvSpPr/>
          <p:nvPr/>
        </p:nvSpPr>
        <p:spPr>
          <a:xfrm>
            <a:off x="2606040" y="2487240"/>
            <a:ext cx="2029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Annual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Remittances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9"/>
          <p:cNvSpPr/>
          <p:nvPr/>
        </p:nvSpPr>
        <p:spPr>
          <a:xfrm>
            <a:off x="2606040" y="3090600"/>
            <a:ext cx="20293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Africa cross-border 2024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Shape 10"/>
          <p:cNvSpPr/>
          <p:nvPr/>
        </p:nvSpPr>
        <p:spPr>
          <a:xfrm>
            <a:off x="4800600" y="1353240"/>
            <a:ext cx="2029320" cy="2632680"/>
          </a:xfrm>
          <a:prstGeom prst="rect">
            <a:avLst/>
          </a:prstGeom>
          <a:solidFill>
            <a:srgbClr val="0e1e2b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11"/>
          <p:cNvSpPr/>
          <p:nvPr/>
        </p:nvSpPr>
        <p:spPr>
          <a:xfrm>
            <a:off x="4800600" y="1508760"/>
            <a:ext cx="2029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1db954"/>
                </a:solidFill>
                <a:latin typeface="Georgia"/>
                <a:ea typeface="Georgia"/>
              </a:rPr>
              <a:t>67%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2"/>
          <p:cNvSpPr/>
          <p:nvPr/>
        </p:nvSpPr>
        <p:spPr>
          <a:xfrm>
            <a:off x="4800600" y="2487240"/>
            <a:ext cx="2029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Mobile Money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ebf5ef"/>
                </a:solidFill>
                <a:latin typeface="Calibri"/>
                <a:ea typeface="Calibri"/>
              </a:rPr>
              <a:t>Penetration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13"/>
          <p:cNvSpPr/>
          <p:nvPr/>
        </p:nvSpPr>
        <p:spPr>
          <a:xfrm>
            <a:off x="4800600" y="3090600"/>
            <a:ext cx="20293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Sub-Saharan Africa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14"/>
          <p:cNvSpPr/>
          <p:nvPr/>
        </p:nvSpPr>
        <p:spPr>
          <a:xfrm>
            <a:off x="6995160" y="1353240"/>
            <a:ext cx="2029320" cy="2632680"/>
          </a:xfrm>
          <a:prstGeom prst="rect">
            <a:avLst/>
          </a:prstGeom>
          <a:solidFill>
            <a:srgbClr val="186b3a"/>
          </a:solidFill>
          <a:ln w="254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15"/>
          <p:cNvSpPr/>
          <p:nvPr/>
        </p:nvSpPr>
        <p:spPr>
          <a:xfrm>
            <a:off x="6995160" y="1353240"/>
            <a:ext cx="2029320" cy="7236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 16"/>
          <p:cNvSpPr/>
          <p:nvPr/>
        </p:nvSpPr>
        <p:spPr>
          <a:xfrm>
            <a:off x="6995160" y="1508760"/>
            <a:ext cx="2029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Georgia"/>
                <a:ea typeface="Georgia"/>
              </a:rPr>
              <a:t>0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17"/>
          <p:cNvSpPr/>
          <p:nvPr/>
        </p:nvSpPr>
        <p:spPr>
          <a:xfrm>
            <a:off x="6995160" y="2487240"/>
            <a:ext cx="202932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Bitcoin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Credit Scores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18"/>
          <p:cNvSpPr/>
          <p:nvPr/>
        </p:nvSpPr>
        <p:spPr>
          <a:xfrm>
            <a:off x="6995160" y="3090600"/>
            <a:ext cx="202932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c8eed8"/>
                </a:solidFill>
                <a:latin typeface="Calibri"/>
                <a:ea typeface="Calibri"/>
              </a:rPr>
              <a:t>No competitor exists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Shape 19"/>
          <p:cNvSpPr/>
          <p:nvPr/>
        </p:nvSpPr>
        <p:spPr>
          <a:xfrm>
            <a:off x="411480" y="4160520"/>
            <a:ext cx="8366040" cy="80388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20"/>
          <p:cNvSpPr/>
          <p:nvPr/>
        </p:nvSpPr>
        <p:spPr>
          <a:xfrm>
            <a:off x="658440" y="4224600"/>
            <a:ext cx="59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TAM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21"/>
          <p:cNvSpPr/>
          <p:nvPr/>
        </p:nvSpPr>
        <p:spPr>
          <a:xfrm>
            <a:off x="1316880" y="4206240"/>
            <a:ext cx="1370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$50B+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22"/>
          <p:cNvSpPr/>
          <p:nvPr/>
        </p:nvSpPr>
        <p:spPr>
          <a:xfrm>
            <a:off x="658440" y="4553640"/>
            <a:ext cx="2605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All unbanked Africans with mobile money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23"/>
          <p:cNvSpPr/>
          <p:nvPr/>
        </p:nvSpPr>
        <p:spPr>
          <a:xfrm>
            <a:off x="3493080" y="4224600"/>
            <a:ext cx="59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SAM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24"/>
          <p:cNvSpPr/>
          <p:nvPr/>
        </p:nvSpPr>
        <p:spPr>
          <a:xfrm>
            <a:off x="4151520" y="4206240"/>
            <a:ext cx="1370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$8B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25"/>
          <p:cNvSpPr/>
          <p:nvPr/>
        </p:nvSpPr>
        <p:spPr>
          <a:xfrm>
            <a:off x="3493080" y="4553640"/>
            <a:ext cx="2605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East &amp; West Africa smartphone users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26"/>
          <p:cNvSpPr/>
          <p:nvPr/>
        </p:nvSpPr>
        <p:spPr>
          <a:xfrm>
            <a:off x="6327720" y="4224600"/>
            <a:ext cx="5936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SOM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27"/>
          <p:cNvSpPr/>
          <p:nvPr/>
        </p:nvSpPr>
        <p:spPr>
          <a:xfrm>
            <a:off x="6986160" y="4206240"/>
            <a:ext cx="1370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1db954"/>
                </a:solidFill>
                <a:latin typeface="Georgia"/>
                <a:ea typeface="Georgia"/>
              </a:rPr>
              <a:t>$120M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28"/>
          <p:cNvSpPr/>
          <p:nvPr/>
        </p:nvSpPr>
        <p:spPr>
          <a:xfrm>
            <a:off x="6327720" y="4553640"/>
            <a:ext cx="26053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Kenya + Nigeria — Year 1 target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29"/>
          <p:cNvSpPr/>
          <p:nvPr/>
        </p:nvSpPr>
        <p:spPr>
          <a:xfrm>
            <a:off x="438840" y="5029200"/>
            <a:ext cx="8338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We don't compete with banks. We solve what banks can't — behavioral discipline + inflation-proof value storage.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 0"/>
          <p:cNvSpPr/>
          <p:nvPr/>
        </p:nvSpPr>
        <p:spPr>
          <a:xfrm>
            <a:off x="475560" y="255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6" strike="noStrike">
                <a:solidFill>
                  <a:srgbClr val="186b3a"/>
                </a:solidFill>
                <a:latin typeface="Calibri"/>
                <a:ea typeface="Calibri"/>
              </a:rPr>
              <a:t>BUSINESS MODEL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 1"/>
          <p:cNvSpPr/>
          <p:nvPr/>
        </p:nvSpPr>
        <p:spPr>
          <a:xfrm>
            <a:off x="475560" y="658440"/>
            <a:ext cx="777168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07111c"/>
                </a:solidFill>
                <a:latin typeface="Georgia"/>
                <a:ea typeface="Georgia"/>
              </a:rPr>
              <a:t>Multiple streams. All aligned with user success.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Shape 2"/>
          <p:cNvSpPr/>
          <p:nvPr/>
        </p:nvSpPr>
        <p:spPr>
          <a:xfrm>
            <a:off x="438840" y="1298520"/>
            <a:ext cx="2029320" cy="2788200"/>
          </a:xfrm>
          <a:prstGeom prst="rect">
            <a:avLst/>
          </a:prstGeom>
          <a:solidFill>
            <a:srgbClr val="f4faf6"/>
          </a:solidFill>
          <a:ln w="12700">
            <a:solidFill>
              <a:srgbClr val="ffe8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3"/>
          <p:cNvSpPr/>
          <p:nvPr/>
        </p:nvSpPr>
        <p:spPr>
          <a:xfrm>
            <a:off x="438840" y="1298520"/>
            <a:ext cx="2029320" cy="6336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Shape 4"/>
          <p:cNvSpPr/>
          <p:nvPr/>
        </p:nvSpPr>
        <p:spPr>
          <a:xfrm>
            <a:off x="548640" y="1389960"/>
            <a:ext cx="822240" cy="236880"/>
          </a:xfrm>
          <a:prstGeom prst="roundRect">
            <a:avLst>
              <a:gd name="adj" fmla="val 38462"/>
            </a:avLst>
          </a:prstGeom>
          <a:solidFill>
            <a:srgbClr val="fff3cc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548640" y="1398960"/>
            <a:ext cx="822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4" strike="noStrike">
                <a:solidFill>
                  <a:srgbClr val="f2a900"/>
                </a:solidFill>
                <a:latin typeface="Calibri"/>
                <a:ea typeface="Calibri"/>
              </a:rPr>
              <a:t>NOW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Shape 6"/>
          <p:cNvSpPr/>
          <p:nvPr/>
        </p:nvSpPr>
        <p:spPr>
          <a:xfrm>
            <a:off x="1051560" y="1691640"/>
            <a:ext cx="803880" cy="8038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0" name="Image 0" descr="preencoded.png"/>
          <p:cNvPicPr/>
          <p:nvPr/>
        </p:nvPicPr>
        <p:blipFill>
          <a:blip r:embed="rId1"/>
          <a:stretch/>
        </p:blipFill>
        <p:spPr>
          <a:xfrm>
            <a:off x="1161360" y="180144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231" name="Text 7"/>
          <p:cNvSpPr/>
          <p:nvPr/>
        </p:nvSpPr>
        <p:spPr>
          <a:xfrm>
            <a:off x="438840" y="2606040"/>
            <a:ext cx="2029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0.5% FX Spread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Text 8"/>
          <p:cNvSpPr/>
          <p:nvPr/>
        </p:nvSpPr>
        <p:spPr>
          <a:xfrm>
            <a:off x="530280" y="3127320"/>
            <a:ext cx="18464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Every KES→Sats conversion.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Invisible to user. Scales with volume.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Shape 9"/>
          <p:cNvSpPr/>
          <p:nvPr/>
        </p:nvSpPr>
        <p:spPr>
          <a:xfrm>
            <a:off x="2615040" y="1298520"/>
            <a:ext cx="2029320" cy="278820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Shape 10"/>
          <p:cNvSpPr/>
          <p:nvPr/>
        </p:nvSpPr>
        <p:spPr>
          <a:xfrm>
            <a:off x="2615040" y="1298520"/>
            <a:ext cx="2029320" cy="6336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11"/>
          <p:cNvSpPr/>
          <p:nvPr/>
        </p:nvSpPr>
        <p:spPr>
          <a:xfrm>
            <a:off x="2724840" y="1389960"/>
            <a:ext cx="822240" cy="236880"/>
          </a:xfrm>
          <a:prstGeom prst="roundRect">
            <a:avLst>
              <a:gd name="adj" fmla="val 38462"/>
            </a:avLst>
          </a:prstGeom>
          <a:solidFill>
            <a:srgbClr val="d4f0e0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12"/>
          <p:cNvSpPr/>
          <p:nvPr/>
        </p:nvSpPr>
        <p:spPr>
          <a:xfrm>
            <a:off x="2724840" y="1398960"/>
            <a:ext cx="822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4" strike="noStrike">
                <a:solidFill>
                  <a:srgbClr val="186b3a"/>
                </a:solidFill>
                <a:latin typeface="Calibri"/>
                <a:ea typeface="Calibri"/>
              </a:rPr>
              <a:t>MONTH 6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13"/>
          <p:cNvSpPr/>
          <p:nvPr/>
        </p:nvSpPr>
        <p:spPr>
          <a:xfrm>
            <a:off x="3227760" y="1691640"/>
            <a:ext cx="803880" cy="8038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38" name="Image 1" descr="preencoded.png"/>
          <p:cNvPicPr/>
          <p:nvPr/>
        </p:nvPicPr>
        <p:blipFill>
          <a:blip r:embed="rId2"/>
          <a:stretch/>
        </p:blipFill>
        <p:spPr>
          <a:xfrm>
            <a:off x="3337560" y="180144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239" name="Text 14"/>
          <p:cNvSpPr/>
          <p:nvPr/>
        </p:nvSpPr>
        <p:spPr>
          <a:xfrm>
            <a:off x="2615040" y="2606040"/>
            <a:ext cx="2029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5% Loan Interest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Text 15"/>
          <p:cNvSpPr/>
          <p:nvPr/>
        </p:nvSpPr>
        <p:spPr>
          <a:xfrm>
            <a:off x="2706480" y="3127320"/>
            <a:ext cx="18464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Emergency loans backed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by user's own sats. Fully collateralised.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Shape 16"/>
          <p:cNvSpPr/>
          <p:nvPr/>
        </p:nvSpPr>
        <p:spPr>
          <a:xfrm>
            <a:off x="4791600" y="1298520"/>
            <a:ext cx="2029320" cy="2788200"/>
          </a:xfrm>
          <a:prstGeom prst="rect">
            <a:avLst/>
          </a:prstGeom>
          <a:solidFill>
            <a:srgbClr val="f4faf6"/>
          </a:solidFill>
          <a:ln w="12700">
            <a:solidFill>
              <a:srgbClr val="ffe8a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7"/>
          <p:cNvSpPr/>
          <p:nvPr/>
        </p:nvSpPr>
        <p:spPr>
          <a:xfrm>
            <a:off x="4791600" y="1298520"/>
            <a:ext cx="2029320" cy="6336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18"/>
          <p:cNvSpPr/>
          <p:nvPr/>
        </p:nvSpPr>
        <p:spPr>
          <a:xfrm>
            <a:off x="4901040" y="1389960"/>
            <a:ext cx="822240" cy="236880"/>
          </a:xfrm>
          <a:prstGeom prst="roundRect">
            <a:avLst>
              <a:gd name="adj" fmla="val 38462"/>
            </a:avLst>
          </a:prstGeom>
          <a:solidFill>
            <a:srgbClr val="fff3cc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9"/>
          <p:cNvSpPr/>
          <p:nvPr/>
        </p:nvSpPr>
        <p:spPr>
          <a:xfrm>
            <a:off x="4901040" y="1398960"/>
            <a:ext cx="822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4" strike="noStrike">
                <a:solidFill>
                  <a:srgbClr val="f2a900"/>
                </a:solidFill>
                <a:latin typeface="Calibri"/>
                <a:ea typeface="Calibri"/>
              </a:rPr>
              <a:t>YEAR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Shape 20"/>
          <p:cNvSpPr/>
          <p:nvPr/>
        </p:nvSpPr>
        <p:spPr>
          <a:xfrm>
            <a:off x="5403960" y="1691640"/>
            <a:ext cx="803880" cy="80388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Image 2" descr="preencoded.png"/>
          <p:cNvPicPr/>
          <p:nvPr/>
        </p:nvPicPr>
        <p:blipFill>
          <a:blip r:embed="rId3"/>
          <a:stretch/>
        </p:blipFill>
        <p:spPr>
          <a:xfrm>
            <a:off x="5513760" y="180144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247" name="Text 21"/>
          <p:cNvSpPr/>
          <p:nvPr/>
        </p:nvSpPr>
        <p:spPr>
          <a:xfrm>
            <a:off x="4791600" y="2606040"/>
            <a:ext cx="2029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B2B SaaS API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22"/>
          <p:cNvSpPr/>
          <p:nvPr/>
        </p:nvSpPr>
        <p:spPr>
          <a:xfrm>
            <a:off x="4883040" y="3127320"/>
            <a:ext cx="18464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License Trust Score to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banks, SACCOs, microfinance.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6967800" y="1298520"/>
            <a:ext cx="2029320" cy="2788200"/>
          </a:xfrm>
          <a:prstGeom prst="rect">
            <a:avLst/>
          </a:prstGeom>
          <a:solidFill>
            <a:srgbClr val="f4faf6"/>
          </a:solidFill>
          <a:ln w="12700">
            <a:solidFill>
              <a:srgbClr val="c8e8d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24"/>
          <p:cNvSpPr/>
          <p:nvPr/>
        </p:nvSpPr>
        <p:spPr>
          <a:xfrm>
            <a:off x="6967800" y="1298520"/>
            <a:ext cx="2029320" cy="6336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19080" bIns="19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25"/>
          <p:cNvSpPr/>
          <p:nvPr/>
        </p:nvSpPr>
        <p:spPr>
          <a:xfrm>
            <a:off x="7077600" y="1389960"/>
            <a:ext cx="822240" cy="236880"/>
          </a:xfrm>
          <a:prstGeom prst="roundRect">
            <a:avLst>
              <a:gd name="adj" fmla="val 38462"/>
            </a:avLst>
          </a:prstGeom>
          <a:solidFill>
            <a:srgbClr val="d4f0e0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Text 26"/>
          <p:cNvSpPr/>
          <p:nvPr/>
        </p:nvSpPr>
        <p:spPr>
          <a:xfrm>
            <a:off x="7077600" y="1398960"/>
            <a:ext cx="8222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pc="94" strike="noStrike">
                <a:solidFill>
                  <a:srgbClr val="186b3a"/>
                </a:solidFill>
                <a:latin typeface="Calibri"/>
                <a:ea typeface="Calibri"/>
              </a:rPr>
              <a:t>YEAR 2</a:t>
            </a:r>
            <a:endParaRPr b="0" lang="en-US" sz="8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Shape 27"/>
          <p:cNvSpPr/>
          <p:nvPr/>
        </p:nvSpPr>
        <p:spPr>
          <a:xfrm>
            <a:off x="7580520" y="1691640"/>
            <a:ext cx="803880" cy="803880"/>
          </a:xfrm>
          <a:prstGeom prst="ellipse">
            <a:avLst/>
          </a:prstGeom>
          <a:solidFill>
            <a:srgbClr val="186b3a"/>
          </a:solidFill>
          <a:ln w="1270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54" name="Image 3" descr="preencoded.png"/>
          <p:cNvPicPr/>
          <p:nvPr/>
        </p:nvPicPr>
        <p:blipFill>
          <a:blip r:embed="rId4"/>
          <a:stretch/>
        </p:blipFill>
        <p:spPr>
          <a:xfrm>
            <a:off x="7689960" y="1801440"/>
            <a:ext cx="584640" cy="584640"/>
          </a:xfrm>
          <a:prstGeom prst="rect">
            <a:avLst/>
          </a:prstGeom>
          <a:ln w="0">
            <a:noFill/>
          </a:ln>
        </p:spPr>
      </p:pic>
      <p:sp>
        <p:nvSpPr>
          <p:cNvPr id="255" name="Text 28"/>
          <p:cNvSpPr/>
          <p:nvPr/>
        </p:nvSpPr>
        <p:spPr>
          <a:xfrm>
            <a:off x="6967800" y="2606040"/>
            <a:ext cx="2029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07111c"/>
                </a:solidFill>
                <a:latin typeface="Georgia"/>
                <a:ea typeface="Georgia"/>
              </a:rPr>
              <a:t>Premium Tier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Text 29"/>
          <p:cNvSpPr/>
          <p:nvPr/>
        </p:nvSpPr>
        <p:spPr>
          <a:xfrm>
            <a:off x="7059240" y="3127320"/>
            <a:ext cx="184644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Auto-DCA, chama groups,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555555"/>
                </a:solidFill>
                <a:latin typeface="Calibri"/>
                <a:ea typeface="Calibri"/>
              </a:rPr>
              <a:t>higher limits, advanced features.</a:t>
            </a:r>
            <a:endParaRPr b="0" lang="en-US" sz="11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30"/>
          <p:cNvSpPr/>
          <p:nvPr/>
        </p:nvSpPr>
        <p:spPr>
          <a:xfrm>
            <a:off x="438840" y="4224600"/>
            <a:ext cx="8338680" cy="932040"/>
          </a:xfrm>
          <a:prstGeom prst="rect">
            <a:avLst/>
          </a:prstGeom>
          <a:solidFill>
            <a:srgbClr val="07111c"/>
          </a:solidFill>
          <a:ln w="6350">
            <a:solidFill>
              <a:srgbClr val="07111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 31"/>
          <p:cNvSpPr/>
          <p:nvPr/>
        </p:nvSpPr>
        <p:spPr>
          <a:xfrm>
            <a:off x="621720" y="4297680"/>
            <a:ext cx="2193840" cy="32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f2a900"/>
                </a:solidFill>
                <a:latin typeface="Georgia"/>
                <a:ea typeface="Georgia"/>
              </a:rPr>
              <a:t>Year 1 Unit Economics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9" name="Text 32"/>
          <p:cNvSpPr/>
          <p:nvPr/>
        </p:nvSpPr>
        <p:spPr>
          <a:xfrm>
            <a:off x="3017520" y="4279320"/>
            <a:ext cx="1416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200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0" name="Text 33"/>
          <p:cNvSpPr/>
          <p:nvPr/>
        </p:nvSpPr>
        <p:spPr>
          <a:xfrm>
            <a:off x="3017520" y="4709160"/>
            <a:ext cx="1416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CAC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34"/>
          <p:cNvSpPr/>
          <p:nvPr/>
        </p:nvSpPr>
        <p:spPr>
          <a:xfrm>
            <a:off x="4498920" y="4279320"/>
            <a:ext cx="1416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1,200/yr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Text 35"/>
          <p:cNvSpPr/>
          <p:nvPr/>
        </p:nvSpPr>
        <p:spPr>
          <a:xfrm>
            <a:off x="4498920" y="4709160"/>
            <a:ext cx="1416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ARPU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Text 36"/>
          <p:cNvSpPr/>
          <p:nvPr/>
        </p:nvSpPr>
        <p:spPr>
          <a:xfrm>
            <a:off x="5980320" y="4279320"/>
            <a:ext cx="1416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KES 8,400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4" name="Text 37"/>
          <p:cNvSpPr/>
          <p:nvPr/>
        </p:nvSpPr>
        <p:spPr>
          <a:xfrm>
            <a:off x="5980320" y="4709160"/>
            <a:ext cx="1416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LTV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 38"/>
          <p:cNvSpPr/>
          <p:nvPr/>
        </p:nvSpPr>
        <p:spPr>
          <a:xfrm>
            <a:off x="7461360" y="4279320"/>
            <a:ext cx="1416600" cy="41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fffff"/>
                </a:solidFill>
                <a:latin typeface="Georgia"/>
                <a:ea typeface="Georgia"/>
              </a:rPr>
              <a:t>42x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Text 39"/>
          <p:cNvSpPr/>
          <p:nvPr/>
        </p:nvSpPr>
        <p:spPr>
          <a:xfrm>
            <a:off x="7461360" y="4709160"/>
            <a:ext cx="141660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LTV:CAC</a:t>
            </a:r>
            <a:endParaRPr b="0" lang="en-US" sz="10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475560" y="255960"/>
            <a:ext cx="7314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296" strike="noStrike">
                <a:solidFill>
                  <a:srgbClr val="1db954"/>
                </a:solidFill>
                <a:latin typeface="Calibri"/>
                <a:ea typeface="Calibri"/>
              </a:rPr>
              <a:t>MINUTE 5  ·  TEAM  &amp;  THE ASK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Shape 1"/>
          <p:cNvSpPr/>
          <p:nvPr/>
        </p:nvSpPr>
        <p:spPr>
          <a:xfrm>
            <a:off x="438840" y="749880"/>
            <a:ext cx="4132440" cy="4223880"/>
          </a:xfrm>
          <a:prstGeom prst="rect">
            <a:avLst/>
          </a:prstGeom>
          <a:solidFill>
            <a:srgbClr val="0e1e2b"/>
          </a:solidFill>
          <a:ln w="190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Shape 2"/>
          <p:cNvSpPr/>
          <p:nvPr/>
        </p:nvSpPr>
        <p:spPr>
          <a:xfrm>
            <a:off x="438840" y="749880"/>
            <a:ext cx="72360" cy="4223880"/>
          </a:xfrm>
          <a:prstGeom prst="rect">
            <a:avLst/>
          </a:prstGeom>
          <a:solidFill>
            <a:srgbClr val="186b3a"/>
          </a:solidFill>
          <a:ln w="6350">
            <a:solidFill>
              <a:srgbClr val="186b3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658440" y="896040"/>
            <a:ext cx="1325160" cy="1325160"/>
          </a:xfrm>
          <a:prstGeom prst="ellipse">
            <a:avLst/>
          </a:prstGeom>
          <a:solidFill>
            <a:srgbClr val="152232"/>
          </a:solidFill>
          <a:ln w="254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658440" y="1353240"/>
            <a:ext cx="13251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5c7a6a"/>
                </a:solidFill>
                <a:latin typeface="Calibri"/>
                <a:ea typeface="Calibri"/>
              </a:rPr>
              <a:t>[Photo]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2103120" y="896040"/>
            <a:ext cx="23583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100" spc="-1" strike="noStrike">
                <a:solidFill>
                  <a:srgbClr val="ffffff"/>
                </a:solidFill>
                <a:latin typeface="Georgia"/>
                <a:ea typeface="Georgia"/>
              </a:rPr>
              <a:t>[Founder Name]</a:t>
            </a:r>
            <a:endParaRPr b="0" lang="en-US" sz="2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2103120" y="1389960"/>
            <a:ext cx="23583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f2a900"/>
                </a:solidFill>
                <a:latin typeface="Calibri"/>
                <a:ea typeface="Calibri"/>
              </a:rPr>
              <a:t>Founder &amp; CEO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658440" y="1920240"/>
            <a:ext cx="3729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▸  </a:t>
            </a: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Designed, coded, shipped IshLu — solo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8"/>
          <p:cNvSpPr/>
          <p:nvPr/>
        </p:nvSpPr>
        <p:spPr>
          <a:xfrm>
            <a:off x="658440" y="2359080"/>
            <a:ext cx="3729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▸  </a:t>
            </a:r>
            <a:r>
              <a:rPr b="0" lang="en-US" sz="1250" spc="-1" strike="noStrike">
                <a:solidFill>
                  <a:srgbClr val="ebf5ef"/>
                </a:solidFill>
                <a:latin typeface="Calibri"/>
                <a:ea typeface="Calibri"/>
              </a:rPr>
              <a:t>DadaHub Residency 2026, Nairobi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658440" y="2797920"/>
            <a:ext cx="3729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▸  </a:t>
            </a: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[Your background — 2–3 words]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658440" y="3237120"/>
            <a:ext cx="372996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▸  </a:t>
            </a:r>
            <a:r>
              <a:rPr b="0" i="1" lang="en-US" sz="1250" spc="-1" strike="noStrike">
                <a:solidFill>
                  <a:srgbClr val="5c7a6a"/>
                </a:solidFill>
                <a:latin typeface="Calibri"/>
                <a:ea typeface="Calibri"/>
              </a:rPr>
              <a:t>[Prior project / community work]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Shape 11"/>
          <p:cNvSpPr/>
          <p:nvPr/>
        </p:nvSpPr>
        <p:spPr>
          <a:xfrm>
            <a:off x="438840" y="3767400"/>
            <a:ext cx="4132440" cy="566280"/>
          </a:xfrm>
          <a:prstGeom prst="rect">
            <a:avLst/>
          </a:prstGeom>
          <a:solidFill>
            <a:srgbClr val="0d2018"/>
          </a:solidFill>
          <a:ln w="1270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567000" y="3803760"/>
            <a:ext cx="391284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Solo = full ownership, no co-founder risk, proven builder.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f2a900"/>
                </a:solidFill>
                <a:latin typeface="Calibri"/>
                <a:ea typeface="Calibri"/>
              </a:rPr>
              <a:t>Funding builds the team.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13"/>
          <p:cNvSpPr/>
          <p:nvPr/>
        </p:nvSpPr>
        <p:spPr>
          <a:xfrm>
            <a:off x="475560" y="4462200"/>
            <a:ext cx="406836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5c7a6a"/>
                </a:solidFill>
                <a:latin typeface="Calibri"/>
                <a:ea typeface="Calibri"/>
              </a:rPr>
              <a:t>Advisors / first hires: [Add here]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Shape 14"/>
          <p:cNvSpPr/>
          <p:nvPr/>
        </p:nvSpPr>
        <p:spPr>
          <a:xfrm>
            <a:off x="4773240" y="749880"/>
            <a:ext cx="3976920" cy="1873800"/>
          </a:xfrm>
          <a:prstGeom prst="rect">
            <a:avLst/>
          </a:prstGeom>
          <a:solidFill>
            <a:srgbClr val="0e1e2b"/>
          </a:solidFill>
          <a:ln w="6350">
            <a:solidFill>
              <a:srgbClr val="0e1e2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4919400" y="8229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50" spc="197" strike="noStrike">
                <a:solidFill>
                  <a:srgbClr val="5c7a6a"/>
                </a:solidFill>
                <a:latin typeface="Calibri"/>
                <a:ea typeface="Calibri"/>
              </a:rPr>
              <a:t>PRE-SEED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4919400" y="1078920"/>
            <a:ext cx="371160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400" spc="-1" strike="noStrike">
                <a:solidFill>
                  <a:srgbClr val="ffffff"/>
                </a:solidFill>
                <a:latin typeface="Georgia"/>
                <a:ea typeface="Georgia"/>
              </a:rPr>
              <a:t>$50,000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17"/>
          <p:cNvSpPr/>
          <p:nvPr/>
        </p:nvSpPr>
        <p:spPr>
          <a:xfrm>
            <a:off x="4919400" y="201168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5c7a6a"/>
                </a:solidFill>
                <a:latin typeface="Calibri"/>
                <a:ea typeface="Calibri"/>
              </a:rPr>
              <a:t>SAFE  ·  $600K cap  ·  20% discount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18"/>
          <p:cNvSpPr/>
          <p:nvPr/>
        </p:nvSpPr>
        <p:spPr>
          <a:xfrm>
            <a:off x="4919400" y="2304360"/>
            <a:ext cx="3711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MVP to Market  —  6-month runway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Shape 19"/>
          <p:cNvSpPr/>
          <p:nvPr/>
        </p:nvSpPr>
        <p:spPr>
          <a:xfrm>
            <a:off x="4773240" y="2816280"/>
            <a:ext cx="3976920" cy="36504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Shape 20"/>
          <p:cNvSpPr/>
          <p:nvPr/>
        </p:nvSpPr>
        <p:spPr>
          <a:xfrm>
            <a:off x="4773240" y="2816280"/>
            <a:ext cx="72360" cy="36504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4901040" y="2853000"/>
            <a:ext cx="657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40%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5614560" y="2853000"/>
            <a:ext cx="803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$20K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23"/>
          <p:cNvSpPr/>
          <p:nvPr/>
        </p:nvSpPr>
        <p:spPr>
          <a:xfrm>
            <a:off x="6473880" y="2871360"/>
            <a:ext cx="214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Product &amp; Engineering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Shape 24"/>
          <p:cNvSpPr/>
          <p:nvPr/>
        </p:nvSpPr>
        <p:spPr>
          <a:xfrm>
            <a:off x="4773240" y="3237120"/>
            <a:ext cx="3976920" cy="36504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Shape 25"/>
          <p:cNvSpPr/>
          <p:nvPr/>
        </p:nvSpPr>
        <p:spPr>
          <a:xfrm>
            <a:off x="4773240" y="3237120"/>
            <a:ext cx="72360" cy="36504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26"/>
          <p:cNvSpPr/>
          <p:nvPr/>
        </p:nvSpPr>
        <p:spPr>
          <a:xfrm>
            <a:off x="4901040" y="3273480"/>
            <a:ext cx="657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30%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27"/>
          <p:cNvSpPr/>
          <p:nvPr/>
        </p:nvSpPr>
        <p:spPr>
          <a:xfrm>
            <a:off x="5614560" y="3273480"/>
            <a:ext cx="803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$15K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28"/>
          <p:cNvSpPr/>
          <p:nvPr/>
        </p:nvSpPr>
        <p:spPr>
          <a:xfrm>
            <a:off x="6473880" y="3291840"/>
            <a:ext cx="214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User Acquisition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Shape 29"/>
          <p:cNvSpPr/>
          <p:nvPr/>
        </p:nvSpPr>
        <p:spPr>
          <a:xfrm>
            <a:off x="4773240" y="3657600"/>
            <a:ext cx="3976920" cy="36504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Shape 30"/>
          <p:cNvSpPr/>
          <p:nvPr/>
        </p:nvSpPr>
        <p:spPr>
          <a:xfrm>
            <a:off x="4773240" y="3657600"/>
            <a:ext cx="72360" cy="36504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Text 31"/>
          <p:cNvSpPr/>
          <p:nvPr/>
        </p:nvSpPr>
        <p:spPr>
          <a:xfrm>
            <a:off x="4901040" y="3694320"/>
            <a:ext cx="657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20%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32"/>
          <p:cNvSpPr/>
          <p:nvPr/>
        </p:nvSpPr>
        <p:spPr>
          <a:xfrm>
            <a:off x="5614560" y="3694320"/>
            <a:ext cx="803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$10K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33"/>
          <p:cNvSpPr/>
          <p:nvPr/>
        </p:nvSpPr>
        <p:spPr>
          <a:xfrm>
            <a:off x="6473880" y="3712320"/>
            <a:ext cx="214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Compliance &amp; Legal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Shape 34"/>
          <p:cNvSpPr/>
          <p:nvPr/>
        </p:nvSpPr>
        <p:spPr>
          <a:xfrm>
            <a:off x="4773240" y="4078080"/>
            <a:ext cx="3976920" cy="365040"/>
          </a:xfrm>
          <a:prstGeom prst="rect">
            <a:avLst/>
          </a:prstGeom>
          <a:solidFill>
            <a:srgbClr val="152232"/>
          </a:solidFill>
          <a:ln w="6350">
            <a:solidFill>
              <a:srgbClr val="15223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Shape 35"/>
          <p:cNvSpPr/>
          <p:nvPr/>
        </p:nvSpPr>
        <p:spPr>
          <a:xfrm>
            <a:off x="4773240" y="4078080"/>
            <a:ext cx="72360" cy="36504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 36"/>
          <p:cNvSpPr/>
          <p:nvPr/>
        </p:nvSpPr>
        <p:spPr>
          <a:xfrm>
            <a:off x="4901040" y="4114800"/>
            <a:ext cx="65772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pc="-1" strike="noStrike">
                <a:solidFill>
                  <a:srgbClr val="f2a900"/>
                </a:solidFill>
                <a:latin typeface="Georgia"/>
                <a:ea typeface="Georgia"/>
              </a:rPr>
              <a:t>10%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37"/>
          <p:cNvSpPr/>
          <p:nvPr/>
        </p:nvSpPr>
        <p:spPr>
          <a:xfrm>
            <a:off x="5614560" y="4114800"/>
            <a:ext cx="8038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$5K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38"/>
          <p:cNvSpPr/>
          <p:nvPr/>
        </p:nvSpPr>
        <p:spPr>
          <a:xfrm>
            <a:off x="6473880" y="4133160"/>
            <a:ext cx="21481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ebf5ef"/>
                </a:solidFill>
                <a:latin typeface="Calibri"/>
                <a:ea typeface="Calibri"/>
              </a:rPr>
              <a:t>Operations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39"/>
          <p:cNvSpPr/>
          <p:nvPr/>
        </p:nvSpPr>
        <p:spPr>
          <a:xfrm>
            <a:off x="4773240" y="4663440"/>
            <a:ext cx="397692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1db954"/>
                </a:solidFill>
                <a:latin typeface="Calibri"/>
                <a:ea typeface="Calibri"/>
              </a:rPr>
              <a:t>500 users M3  →  KES 2M ARR M9  →  Series A ready M18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Shape 0"/>
          <p:cNvSpPr/>
          <p:nvPr/>
        </p:nvSpPr>
        <p:spPr>
          <a:xfrm>
            <a:off x="-1626840" y="-2057400"/>
            <a:ext cx="6400080" cy="6400800"/>
          </a:xfrm>
          <a:prstGeom prst="ellipse">
            <a:avLst/>
          </a:prstGeom>
          <a:solidFill>
            <a:srgbClr val="186b3a">
              <a:alpha val="13000"/>
            </a:srgbClr>
          </a:solidFill>
          <a:ln w="12700">
            <a:solidFill>
              <a:srgbClr val="186b3a">
                <a:alpha val="13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Shape 1"/>
          <p:cNvSpPr/>
          <p:nvPr/>
        </p:nvSpPr>
        <p:spPr>
          <a:xfrm>
            <a:off x="6400800" y="2743200"/>
            <a:ext cx="6400080" cy="6400080"/>
          </a:xfrm>
          <a:prstGeom prst="ellipse">
            <a:avLst/>
          </a:prstGeom>
          <a:solidFill>
            <a:srgbClr val="f2a900">
              <a:alpha val="9000"/>
            </a:srgbClr>
          </a:solidFill>
          <a:ln w="12700">
            <a:solidFill>
              <a:srgbClr val="f2a900">
                <a:alpha val="9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9" name="Image 0" descr="preencoded.png"/>
          <p:cNvPicPr/>
          <p:nvPr/>
        </p:nvPicPr>
        <p:blipFill>
          <a:blip r:embed="rId1"/>
          <a:stretch/>
        </p:blipFill>
        <p:spPr>
          <a:xfrm>
            <a:off x="4224600" y="165240"/>
            <a:ext cx="749160" cy="749160"/>
          </a:xfrm>
          <a:prstGeom prst="rect">
            <a:avLst/>
          </a:prstGeom>
          <a:ln w="0">
            <a:noFill/>
          </a:ln>
        </p:spPr>
      </p:pic>
      <p:sp>
        <p:nvSpPr>
          <p:cNvPr id="310" name="Text 2"/>
          <p:cNvSpPr/>
          <p:nvPr/>
        </p:nvSpPr>
        <p:spPr>
          <a:xfrm>
            <a:off x="731520" y="1261800"/>
            <a:ext cx="77716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IshLu SatsSaver</a:t>
            </a:r>
            <a:endParaRPr b="0" lang="en-US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3200400" y="2076480"/>
            <a:ext cx="2833920" cy="72360"/>
          </a:xfrm>
          <a:prstGeom prst="rect">
            <a:avLst/>
          </a:prstGeom>
          <a:solidFill>
            <a:srgbClr val="f2a900"/>
          </a:solidFill>
          <a:ln w="6350">
            <a:solidFill>
              <a:srgbClr val="f2a9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Text 4"/>
          <p:cNvSpPr/>
          <p:nvPr/>
        </p:nvSpPr>
        <p:spPr>
          <a:xfrm>
            <a:off x="731520" y="2304360"/>
            <a:ext cx="77716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i="1" lang="en-US" sz="3200" spc="-1" strike="noStrike">
                <a:solidFill>
                  <a:srgbClr val="f2a900"/>
                </a:solidFill>
                <a:latin typeface="Georgia"/>
                <a:ea typeface="Georgia"/>
              </a:rPr>
              <a:t>Your Wealth is Rooted.</a:t>
            </a:r>
            <a:endParaRPr b="0" lang="en-US" sz="3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5"/>
          <p:cNvSpPr/>
          <p:nvPr/>
        </p:nvSpPr>
        <p:spPr>
          <a:xfrm>
            <a:off x="1143000" y="2817000"/>
            <a:ext cx="6948720" cy="84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IshLu SatsSaver is how 400M Africans start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bf5ef"/>
                </a:solidFill>
                <a:latin typeface="Calibri"/>
                <a:ea typeface="Calibri"/>
              </a:rPr>
              <a:t>building Bitcoin wealth  one shilling at a time.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Shape 6"/>
          <p:cNvSpPr/>
          <p:nvPr/>
        </p:nvSpPr>
        <p:spPr>
          <a:xfrm>
            <a:off x="475560" y="4133160"/>
            <a:ext cx="1992600" cy="38340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Text 7"/>
          <p:cNvSpPr/>
          <p:nvPr/>
        </p:nvSpPr>
        <p:spPr>
          <a:xfrm>
            <a:off x="475560" y="4151520"/>
            <a:ext cx="1992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Build in Public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Shape 8"/>
          <p:cNvSpPr/>
          <p:nvPr/>
        </p:nvSpPr>
        <p:spPr>
          <a:xfrm>
            <a:off x="2624400" y="4133160"/>
            <a:ext cx="1992600" cy="38340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7" name="Text 9"/>
          <p:cNvSpPr/>
          <p:nvPr/>
        </p:nvSpPr>
        <p:spPr>
          <a:xfrm>
            <a:off x="2624400" y="4151520"/>
            <a:ext cx="1992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Ship Real Things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Shape 10"/>
          <p:cNvSpPr/>
          <p:nvPr/>
        </p:nvSpPr>
        <p:spPr>
          <a:xfrm>
            <a:off x="4773240" y="4133160"/>
            <a:ext cx="1992600" cy="38340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Text 11"/>
          <p:cNvSpPr/>
          <p:nvPr/>
        </p:nvSpPr>
        <p:spPr>
          <a:xfrm>
            <a:off x="4773240" y="4151520"/>
            <a:ext cx="1992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Context Matters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Shape 12"/>
          <p:cNvSpPr/>
          <p:nvPr/>
        </p:nvSpPr>
        <p:spPr>
          <a:xfrm>
            <a:off x="6922080" y="4133160"/>
            <a:ext cx="1992600" cy="383400"/>
          </a:xfrm>
          <a:prstGeom prst="roundRect">
            <a:avLst>
              <a:gd name="adj" fmla="val 33333"/>
            </a:avLst>
          </a:prstGeom>
          <a:solidFill>
            <a:srgbClr val="152232"/>
          </a:solidFill>
          <a:ln w="12700">
            <a:solidFill>
              <a:srgbClr val="1db95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Text 13"/>
          <p:cNvSpPr/>
          <p:nvPr/>
        </p:nvSpPr>
        <p:spPr>
          <a:xfrm>
            <a:off x="6922080" y="4151520"/>
            <a:ext cx="19926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Give Back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Text 14"/>
          <p:cNvSpPr/>
          <p:nvPr/>
        </p:nvSpPr>
        <p:spPr>
          <a:xfrm>
            <a:off x="731520" y="466344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🌐  </a:t>
            </a:r>
            <a:r>
              <a:rPr b="0" i="1" lang="en-US" sz="1200" spc="-1" strike="noStrike">
                <a:solidFill>
                  <a:srgbClr val="1db954"/>
                </a:solidFill>
                <a:latin typeface="Calibri"/>
                <a:ea typeface="Calibri"/>
              </a:rPr>
              <a:t>ishlusatssaver-production.up.railway.app  ·  💻  https://github.com/650DataNerd/IshLu_SatsSaver]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Text 15"/>
          <p:cNvSpPr/>
          <p:nvPr/>
        </p:nvSpPr>
        <p:spPr>
          <a:xfrm>
            <a:off x="685800" y="3612600"/>
            <a:ext cx="77716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2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[lucyk7770@gmail.com]  ·  [+254 740683490]  ·  [twitter:@TheeNerdd /             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algn="ctr" defTabSz="914400">
              <a:lnSpc>
                <a:spcPct val="200000"/>
              </a:lnSpc>
              <a:tabLst>
                <a:tab algn="l" pos="0"/>
              </a:tabLst>
            </a:pP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 </a:t>
            </a:r>
            <a:r>
              <a:rPr b="0" i="1" lang="en-US" sz="1200" spc="-1" strike="noStrike">
                <a:solidFill>
                  <a:srgbClr val="5c7a6a"/>
                </a:solidFill>
                <a:latin typeface="Calibri"/>
                <a:ea typeface="Calibri"/>
              </a:rPr>
              <a:t>https://www.linkedin.com/in/lucy-kamau-242675204/]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LibreOffice/24.2.7.2$Linux_X86_64 LibreOffice_project/420$Build-2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2026-05-06T07:07:09Z</dcterms:created>
  <dc:creator>PptxGenJS</dc:creator>
  <dc:description/>
  <dc:language>en-US</dc:language>
  <cp:lastModifiedBy/>
  <dcterms:modified xsi:type="dcterms:W3CDTF">2026-05-06T11:15:15Z</dcterms:modified>
  <cp:revision>3</cp:revision>
  <dc:subject>PptxGenJS Presentation</dc:subject>
  <dc:title>IshLu SatsSaver — Demo Day 2026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