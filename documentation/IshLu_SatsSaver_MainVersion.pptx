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media10.mp4" ContentType="video/mp4"/>
  <Override PartName="/ppt/media/image11.jpeg" ContentType="image/jpe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F983A39-7922-4A41-A45B-79979498921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F34F33-2BA6-4F5C-B784-FBE7A77563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A0FB9E-9BE7-4862-BC2A-223C16FE34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35DECB-E45C-4030-B1AC-B9B28B2773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7EA48A-37BD-423F-954A-CFE0D8381AB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92607A-3A3A-4319-90F4-FCA5A761D6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578ED0A-3E97-4030-8CD1-E96B7A87F1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1E0A1C-91B8-4B18-942E-9550DD3BF1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FBAA7E-23FD-4986-A49E-DB44857E1BC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F13BBB-0AB9-4ADA-B502-A512A84BF4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5C01C9-7F12-400D-BC52-AF43C6A302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C612B0-F39D-4841-9F3C-398DD86834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A2A30C-605D-49DE-94F7-361BD398C2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video" Target="../media/media10.mp4"/><Relationship Id="rId2" Type="http://schemas.microsoft.com/office/2007/relationships/media" Target="../media/media10.mp4"/><Relationship Id="rId3" Type="http://schemas.openxmlformats.org/officeDocument/2006/relationships/image" Target="../media/image1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303520" y="-1097280"/>
            <a:ext cx="5028480" cy="502848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943600" y="-457200"/>
            <a:ext cx="3656880" cy="365688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age 0" descr="preencoded.png"/>
          <p:cNvPicPr/>
          <p:nvPr/>
        </p:nvPicPr>
        <p:blipFill>
          <a:blip r:embed="rId1">
            <a:alphaModFix amt="85000"/>
          </a:blip>
          <a:stretch/>
        </p:blipFill>
        <p:spPr>
          <a:xfrm>
            <a:off x="6675120" y="548640"/>
            <a:ext cx="1919520" cy="1919520"/>
          </a:xfrm>
          <a:prstGeom prst="rect">
            <a:avLst/>
          </a:prstGeom>
          <a:ln w="0">
            <a:noFill/>
          </a:ln>
        </p:spPr>
      </p:pic>
      <p:sp>
        <p:nvSpPr>
          <p:cNvPr id="12" name="Text 4"/>
          <p:cNvSpPr/>
          <p:nvPr/>
        </p:nvSpPr>
        <p:spPr>
          <a:xfrm>
            <a:off x="320040" y="457200"/>
            <a:ext cx="6400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Georgia"/>
                <a:ea typeface="Georgia"/>
              </a:rPr>
              <a:t>IshLu SatsSaver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914400" y="3886200"/>
            <a:ext cx="640008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800" spc="-1" strike="noStrike">
                <a:solidFill>
                  <a:srgbClr val="f5a623"/>
                </a:solidFill>
                <a:latin typeface="Georgia"/>
                <a:ea typeface="Georgia"/>
              </a:rPr>
              <a:t>Your Wealth is Rooted.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914400" y="4544640"/>
            <a:ext cx="4114080" cy="26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20040" y="2468880"/>
            <a:ext cx="5942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9"/>
          <p:cNvSpPr/>
          <p:nvPr/>
        </p:nvSpPr>
        <p:spPr>
          <a:xfrm>
            <a:off x="365760" y="3456360"/>
            <a:ext cx="1919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365760" y="3977640"/>
            <a:ext cx="19195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718160" y="3456360"/>
            <a:ext cx="1919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20"/>
          <p:cNvSpPr/>
          <p:nvPr/>
        </p:nvSpPr>
        <p:spPr>
          <a:xfrm>
            <a:off x="0" y="4910400"/>
            <a:ext cx="9143280" cy="232560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21"/>
          <p:cNvSpPr/>
          <p:nvPr/>
        </p:nvSpPr>
        <p:spPr>
          <a:xfrm>
            <a:off x="0" y="4919400"/>
            <a:ext cx="91432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7" strike="noStrike">
                <a:solidFill>
                  <a:srgbClr val="00c9a7"/>
                </a:solidFill>
                <a:latin typeface="Calibri"/>
              </a:rPr>
              <a:t>Bitcoin-Backed  ·  M-Pesa Native  ·  Africa-First  ·  Pre-Seed Raising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2"/>
          <a:stretch/>
        </p:blipFill>
        <p:spPr>
          <a:xfrm>
            <a:off x="1723680" y="1371240"/>
            <a:ext cx="2390760" cy="2286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4205520" cy="514296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228600" y="25596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ff6b6b"/>
                </a:solidFill>
                <a:latin typeface="Calibri"/>
              </a:rPr>
              <a:t>01  ·  THE PROBLEM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228600" y="594360"/>
            <a:ext cx="3748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Georgia"/>
                <a:ea typeface="Georgia"/>
              </a:rPr>
              <a:t>Meet Aisha.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228600" y="1188720"/>
            <a:ext cx="3748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892a4"/>
                </a:solidFill>
                <a:latin typeface="Calibri"/>
              </a:rPr>
              <a:t>Delivery rider. Nairobi.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8892a4"/>
                </a:solidFill>
                <a:latin typeface="Calibri"/>
              </a:rPr>
              <a:t>KES 8,000 saved.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228600" y="1828800"/>
            <a:ext cx="3656880" cy="2376720"/>
          </a:xfrm>
          <a:prstGeom prst="rect">
            <a:avLst/>
          </a:prstGeom>
          <a:solidFill>
            <a:srgbClr val="0a0a1a">
              <a:alpha val="90000"/>
            </a:srgbClr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411480" y="2030040"/>
            <a:ext cx="338256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8f0fe"/>
                </a:solidFill>
                <a:latin typeface="Calibri"/>
              </a:rPr>
              <a:t>Her money shrinks while she sleeps.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8f0fe"/>
                </a:solidFill>
                <a:latin typeface="Calibri"/>
              </a:rPr>
              <a:t>Her bike breaks down.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8f0fe"/>
                </a:solidFill>
                <a:latin typeface="Calibri"/>
              </a:rPr>
              <a:t>She needs KES 15,000 — fast.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8f0fe"/>
                </a:solidFill>
                <a:latin typeface="Calibri"/>
              </a:rPr>
              <a:t>The bank wants 3 months of payslips.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8f0fe"/>
                </a:solidFill>
                <a:latin typeface="Calibri"/>
              </a:rPr>
              <a:t>The loan app charges 30%.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8f0fe"/>
                </a:solidFill>
                <a:latin typeface="Calibri"/>
              </a:rPr>
              <a:t>She sells her phone to survive.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8f0fe"/>
                </a:solidFill>
                <a:latin typeface="Calibri"/>
              </a:rPr>
              <a:t>That is the liquidity trap.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6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e8f0fe"/>
                </a:solidFill>
                <a:latin typeface="Calibri"/>
              </a:rPr>
              <a:t>400 million Africans live in it.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4480560" y="274320"/>
            <a:ext cx="4388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Georgia"/>
                <a:ea typeface="Georgia"/>
              </a:rPr>
              <a:t>The System Is Broken.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4480560" y="1005840"/>
            <a:ext cx="502200" cy="502200"/>
          </a:xfrm>
          <a:prstGeom prst="ellipse">
            <a:avLst/>
          </a:prstGeom>
          <a:solidFill>
            <a:srgbClr val="2a0a0a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" name="Image 0" descr="preencoded.png"/>
          <p:cNvPicPr/>
          <p:nvPr/>
        </p:nvPicPr>
        <p:blipFill>
          <a:blip r:embed="rId1"/>
          <a:stretch/>
        </p:blipFill>
        <p:spPr>
          <a:xfrm>
            <a:off x="4544640" y="104256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32" name="Text 9"/>
          <p:cNvSpPr/>
          <p:nvPr/>
        </p:nvSpPr>
        <p:spPr>
          <a:xfrm>
            <a:off x="5120640" y="960120"/>
            <a:ext cx="1188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6b6b"/>
                </a:solidFill>
                <a:latin typeface="Georgia"/>
                <a:ea typeface="Georgia"/>
              </a:rPr>
              <a:t>-7%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5120640" y="139896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Kenya Inflation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5120640" y="1645920"/>
            <a:ext cx="3748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Savings accounts silently lose value every year.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12"/>
          <p:cNvSpPr/>
          <p:nvPr/>
        </p:nvSpPr>
        <p:spPr>
          <a:xfrm>
            <a:off x="4480560" y="2148840"/>
            <a:ext cx="4388400" cy="1764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13"/>
          <p:cNvSpPr/>
          <p:nvPr/>
        </p:nvSpPr>
        <p:spPr>
          <a:xfrm>
            <a:off x="4480560" y="2304360"/>
            <a:ext cx="502200" cy="502200"/>
          </a:xfrm>
          <a:prstGeom prst="ellipse">
            <a:avLst/>
          </a:prstGeom>
          <a:solidFill>
            <a:srgbClr val="2a0a0a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" name="Image 1" descr="preencoded.png"/>
          <p:cNvPicPr/>
          <p:nvPr/>
        </p:nvPicPr>
        <p:blipFill>
          <a:blip r:embed="rId2"/>
          <a:stretch/>
        </p:blipFill>
        <p:spPr>
          <a:xfrm>
            <a:off x="4544640" y="234072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38" name="Text 14"/>
          <p:cNvSpPr/>
          <p:nvPr/>
        </p:nvSpPr>
        <p:spPr>
          <a:xfrm>
            <a:off x="5120640" y="2258640"/>
            <a:ext cx="1188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6b6b"/>
                </a:solidFill>
                <a:latin typeface="Georgia"/>
                <a:ea typeface="Georgia"/>
              </a:rPr>
              <a:t>30%+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5120640" y="269748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Predatory Loan Rates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5120640" y="2944440"/>
            <a:ext cx="3748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No credit score = no fair loans. One emergency = debt trap.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4480560" y="3447360"/>
            <a:ext cx="4388400" cy="1764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480560" y="3602880"/>
            <a:ext cx="502200" cy="502200"/>
          </a:xfrm>
          <a:prstGeom prst="ellipse">
            <a:avLst/>
          </a:prstGeom>
          <a:solidFill>
            <a:srgbClr val="2a0a0a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" name="Image 2" descr="preencoded.png"/>
          <p:cNvPicPr/>
          <p:nvPr/>
        </p:nvPicPr>
        <p:blipFill>
          <a:blip r:embed="rId3"/>
          <a:stretch/>
        </p:blipFill>
        <p:spPr>
          <a:xfrm>
            <a:off x="4544640" y="3639240"/>
            <a:ext cx="365040" cy="365040"/>
          </a:xfrm>
          <a:prstGeom prst="rect">
            <a:avLst/>
          </a:prstGeom>
          <a:ln w="0">
            <a:noFill/>
          </a:ln>
        </p:spPr>
      </p:pic>
      <p:sp>
        <p:nvSpPr>
          <p:cNvPr id="44" name="Text 19"/>
          <p:cNvSpPr/>
          <p:nvPr/>
        </p:nvSpPr>
        <p:spPr>
          <a:xfrm>
            <a:off x="5120640" y="3557160"/>
            <a:ext cx="11880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6b6b"/>
                </a:solidFill>
                <a:latin typeface="Georgia"/>
                <a:ea typeface="Georgia"/>
              </a:rPr>
              <a:t>0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5120640" y="399600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Bitcoin Credit Scores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5120640" y="4242960"/>
            <a:ext cx="3748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No system exists to reward disciplined saving behavior.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4434840" y="4681800"/>
            <a:ext cx="4479840" cy="346680"/>
          </a:xfrm>
          <a:prstGeom prst="rect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4434840" y="4709160"/>
            <a:ext cx="4479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c9a7"/>
                </a:solidFill>
                <a:latin typeface="Calibri"/>
              </a:rPr>
              <a:t>IshLu is how Aisha escapes it.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1"/>
          <p:cNvSpPr/>
          <p:nvPr/>
        </p:nvSpPr>
        <p:spPr>
          <a:xfrm>
            <a:off x="228600" y="25596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00c9a7"/>
                </a:solidFill>
                <a:latin typeface="Calibri"/>
              </a:rPr>
              <a:t>02  ·  SOLUTION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2"/>
          <p:cNvSpPr/>
          <p:nvPr/>
        </p:nvSpPr>
        <p:spPr>
          <a:xfrm>
            <a:off x="228600" y="594360"/>
            <a:ext cx="8686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8f0fe"/>
                </a:solidFill>
                <a:latin typeface="Calibri"/>
                <a:ea typeface="Georgia"/>
              </a:rPr>
              <a:t>Bitcoin micro-savings + behavioral credit scoring solution for 400M+ unbanked Africans.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228600" y="1691640"/>
            <a:ext cx="8686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f5a623"/>
                </a:solidFill>
                <a:latin typeface="Calibri"/>
              </a:rPr>
              <a:t>Save KES 100 via M-Pesa → receive Bitcoin sats instantly → build a credit score based on your behavior, not your bank.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228600" y="2331720"/>
            <a:ext cx="2833920" cy="2422440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round/>
          </a:ln>
          <a:effectLst>
            <a:outerShdw algn="bl" blurRad="127080" dir="8100000" dist="49893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Shape 5"/>
          <p:cNvSpPr/>
          <p:nvPr/>
        </p:nvSpPr>
        <p:spPr>
          <a:xfrm>
            <a:off x="365760" y="2468880"/>
            <a:ext cx="593640" cy="593640"/>
          </a:xfrm>
          <a:prstGeom prst="ellipse">
            <a:avLst/>
          </a:prstGeom>
          <a:solidFill>
            <a:srgbClr val="1a1a35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5" name="Image 0" descr="preencoded.png"/>
          <p:cNvPicPr/>
          <p:nvPr/>
        </p:nvPicPr>
        <p:blipFill>
          <a:blip r:embed="rId1"/>
          <a:stretch/>
        </p:blipFill>
        <p:spPr>
          <a:xfrm>
            <a:off x="429840" y="253296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56" name="Text 6"/>
          <p:cNvSpPr/>
          <p:nvPr/>
        </p:nvSpPr>
        <p:spPr>
          <a:xfrm>
            <a:off x="320040" y="3182040"/>
            <a:ext cx="2651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M-Pesa Native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320040" y="3584520"/>
            <a:ext cx="265104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2a4"/>
                </a:solidFill>
                <a:latin typeface="Calibri"/>
              </a:rPr>
              <a:t>Save from KES 10. STK Push in 3 seconds. Zero friction, zero apps to learn. Just your phone and PIN.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8"/>
          <p:cNvSpPr/>
          <p:nvPr/>
        </p:nvSpPr>
        <p:spPr>
          <a:xfrm>
            <a:off x="3200400" y="2331720"/>
            <a:ext cx="2833920" cy="2422440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round/>
          </a:ln>
          <a:effectLst>
            <a:outerShdw algn="bl" blurRad="127080" dir="8100000" dist="49893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9"/>
          <p:cNvSpPr/>
          <p:nvPr/>
        </p:nvSpPr>
        <p:spPr>
          <a:xfrm>
            <a:off x="3337560" y="2468880"/>
            <a:ext cx="593640" cy="593640"/>
          </a:xfrm>
          <a:prstGeom prst="ellipse">
            <a:avLst/>
          </a:prstGeom>
          <a:solidFill>
            <a:srgbClr val="1a1a35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0" name="Image 1" descr="preencoded.png"/>
          <p:cNvPicPr/>
          <p:nvPr/>
        </p:nvPicPr>
        <p:blipFill>
          <a:blip r:embed="rId2"/>
          <a:stretch/>
        </p:blipFill>
        <p:spPr>
          <a:xfrm>
            <a:off x="3401640" y="253296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61" name="Text 10"/>
          <p:cNvSpPr/>
          <p:nvPr/>
        </p:nvSpPr>
        <p:spPr>
          <a:xfrm>
            <a:off x="3291840" y="3182040"/>
            <a:ext cx="2651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Bitcoin Sats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3291840" y="3584520"/>
            <a:ext cx="265104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2a4"/>
                </a:solidFill>
                <a:latin typeface="Calibri"/>
              </a:rPr>
              <a:t>KES converts to sats instantly via Lightning Network. Inflation-proof. Yours forever. Non-custodial wallets.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6172200" y="2331720"/>
            <a:ext cx="2833920" cy="2422440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round/>
          </a:ln>
          <a:effectLst>
            <a:outerShdw algn="bl" blurRad="127080" dir="8100000" dist="49893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Shape 13"/>
          <p:cNvSpPr/>
          <p:nvPr/>
        </p:nvSpPr>
        <p:spPr>
          <a:xfrm>
            <a:off x="6309360" y="2468880"/>
            <a:ext cx="593640" cy="593640"/>
          </a:xfrm>
          <a:prstGeom prst="ellipse">
            <a:avLst/>
          </a:prstGeom>
          <a:solidFill>
            <a:srgbClr val="1a1a35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Image 2" descr="preencoded.png"/>
          <p:cNvPicPr/>
          <p:nvPr/>
        </p:nvPicPr>
        <p:blipFill>
          <a:blip r:embed="rId3"/>
          <a:stretch/>
        </p:blipFill>
        <p:spPr>
          <a:xfrm>
            <a:off x="6373440" y="2532960"/>
            <a:ext cx="456480" cy="456480"/>
          </a:xfrm>
          <a:prstGeom prst="rect">
            <a:avLst/>
          </a:prstGeom>
          <a:ln w="0">
            <a:noFill/>
          </a:ln>
        </p:spPr>
      </p:pic>
      <p:sp>
        <p:nvSpPr>
          <p:cNvPr id="66" name="Text 14"/>
          <p:cNvSpPr/>
          <p:nvPr/>
        </p:nvSpPr>
        <p:spPr>
          <a:xfrm>
            <a:off x="6263640" y="3182040"/>
            <a:ext cx="2651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Georgia"/>
                <a:ea typeface="Georgia"/>
              </a:rPr>
              <a:t>Trust Score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6263640" y="3584520"/>
            <a:ext cx="265104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5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2a4"/>
                </a:solidFill>
                <a:latin typeface="Calibri"/>
              </a:rPr>
              <a:t>Proprietary 5-factor score (300–850). No payslips needed. Just behavioral data, discipline is your credit.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6"/>
          <p:cNvSpPr/>
          <p:nvPr/>
        </p:nvSpPr>
        <p:spPr>
          <a:xfrm>
            <a:off x="228600" y="4709160"/>
            <a:ext cx="8686080" cy="319320"/>
          </a:xfrm>
          <a:prstGeom prst="rect">
            <a:avLst/>
          </a:prstGeom>
          <a:solidFill>
            <a:srgbClr val="1a1a35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274320" y="4736520"/>
            <a:ext cx="85946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f5a623"/>
                </a:solidFill>
                <a:latin typeface="Calibri"/>
              </a:rPr>
              <a:t>Why now? Lightning Network matured. M-Pesa Daraja API open. AI coaching affordable. No one has combined them until IshLu.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228600" y="25596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f5a623"/>
                </a:solidFill>
                <a:latin typeface="Calibri"/>
              </a:rPr>
              <a:t>03  ·  PRODUCT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228600" y="594360"/>
            <a:ext cx="6400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Georgia"/>
                <a:ea typeface="Georgia"/>
              </a:rPr>
              <a:t>Three Layers. One Moat.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228600" y="128016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300" spc="-1" strike="noStrike">
                <a:solidFill>
                  <a:srgbClr val="00c9a7"/>
                </a:solidFill>
                <a:latin typeface="Calibri"/>
              </a:rPr>
              <a:t>KES 100  →  750 sats. Bitcoin. Forever.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4"/>
          <p:cNvSpPr/>
          <p:nvPr/>
        </p:nvSpPr>
        <p:spPr>
          <a:xfrm>
            <a:off x="228600" y="1691640"/>
            <a:ext cx="1416600" cy="913680"/>
          </a:xfrm>
          <a:prstGeom prst="ellipse">
            <a:avLst/>
          </a:prstGeom>
          <a:solidFill>
            <a:srgbClr val="1a1a35"/>
          </a:solidFill>
          <a:ln w="254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228600" y="1719000"/>
            <a:ext cx="1416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c9a7"/>
                </a:solidFill>
                <a:latin typeface="Georgia"/>
                <a:ea typeface="Georgia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228600" y="205740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Open App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1654920" y="2084760"/>
            <a:ext cx="300960" cy="2664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1965960" y="1691640"/>
            <a:ext cx="1416600" cy="913680"/>
          </a:xfrm>
          <a:prstGeom prst="ellipse">
            <a:avLst/>
          </a:prstGeom>
          <a:solidFill>
            <a:srgbClr val="1a1a35"/>
          </a:solidFill>
          <a:ln w="254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1965960" y="1719000"/>
            <a:ext cx="1416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5a623"/>
                </a:solidFill>
                <a:latin typeface="Georgia"/>
                <a:ea typeface="Georgia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1965960" y="205740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Tap Save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→ </a:t>
            </a: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M-Pesa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3392280" y="2084760"/>
            <a:ext cx="300960" cy="2664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2"/>
          <p:cNvSpPr/>
          <p:nvPr/>
        </p:nvSpPr>
        <p:spPr>
          <a:xfrm>
            <a:off x="3703320" y="1691640"/>
            <a:ext cx="1416600" cy="913680"/>
          </a:xfrm>
          <a:prstGeom prst="ellipse">
            <a:avLst/>
          </a:prstGeom>
          <a:solidFill>
            <a:srgbClr val="1a1a35"/>
          </a:solidFill>
          <a:ln w="254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3703320" y="1719000"/>
            <a:ext cx="1416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c9a7"/>
                </a:solidFill>
                <a:latin typeface="Georgia"/>
                <a:ea typeface="Georgia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3703320" y="205740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STK Push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Arrives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5129640" y="2084760"/>
            <a:ext cx="300960" cy="2664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16"/>
          <p:cNvSpPr/>
          <p:nvPr/>
        </p:nvSpPr>
        <p:spPr>
          <a:xfrm>
            <a:off x="5440680" y="1691640"/>
            <a:ext cx="1416600" cy="913680"/>
          </a:xfrm>
          <a:prstGeom prst="ellipse">
            <a:avLst/>
          </a:prstGeom>
          <a:solidFill>
            <a:srgbClr val="1a1a35"/>
          </a:solidFill>
          <a:ln w="254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5440680" y="1719000"/>
            <a:ext cx="1416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5a623"/>
                </a:solidFill>
                <a:latin typeface="Georgia"/>
                <a:ea typeface="Georgia"/>
              </a:rPr>
              <a:t>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8"/>
          <p:cNvSpPr/>
          <p:nvPr/>
        </p:nvSpPr>
        <p:spPr>
          <a:xfrm>
            <a:off x="5440680" y="205740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Enter PIN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Confirm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19"/>
          <p:cNvSpPr/>
          <p:nvPr/>
        </p:nvSpPr>
        <p:spPr>
          <a:xfrm>
            <a:off x="6867000" y="2084760"/>
            <a:ext cx="300960" cy="2664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20"/>
          <p:cNvSpPr/>
          <p:nvPr/>
        </p:nvSpPr>
        <p:spPr>
          <a:xfrm>
            <a:off x="7178040" y="1691640"/>
            <a:ext cx="1416600" cy="913680"/>
          </a:xfrm>
          <a:prstGeom prst="ellipse">
            <a:avLst/>
          </a:prstGeom>
          <a:solidFill>
            <a:srgbClr val="1a1a35"/>
          </a:solidFill>
          <a:ln w="254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21"/>
          <p:cNvSpPr/>
          <p:nvPr/>
        </p:nvSpPr>
        <p:spPr>
          <a:xfrm>
            <a:off x="7178040" y="1719000"/>
            <a:ext cx="1416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c9a7"/>
                </a:solidFill>
                <a:latin typeface="Georgia"/>
                <a:ea typeface="Georgia"/>
              </a:rPr>
              <a:t>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22"/>
          <p:cNvSpPr/>
          <p:nvPr/>
        </p:nvSpPr>
        <p:spPr>
          <a:xfrm>
            <a:off x="7178040" y="2057400"/>
            <a:ext cx="1416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Sats Land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Tree Grows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23"/>
          <p:cNvSpPr/>
          <p:nvPr/>
        </p:nvSpPr>
        <p:spPr>
          <a:xfrm>
            <a:off x="228600" y="2834640"/>
            <a:ext cx="2833920" cy="201096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24"/>
          <p:cNvSpPr/>
          <p:nvPr/>
        </p:nvSpPr>
        <p:spPr>
          <a:xfrm>
            <a:off x="228600" y="2834640"/>
            <a:ext cx="2833920" cy="346680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25"/>
          <p:cNvSpPr/>
          <p:nvPr/>
        </p:nvSpPr>
        <p:spPr>
          <a:xfrm>
            <a:off x="320040" y="2862000"/>
            <a:ext cx="2651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01  Lightning Network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6"/>
          <p:cNvSpPr/>
          <p:nvPr/>
        </p:nvSpPr>
        <p:spPr>
          <a:xfrm>
            <a:off x="320040" y="323712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0c9a7"/>
                </a:solidFill>
                <a:latin typeface="Calibri"/>
              </a:rPr>
              <a:t>Breez SDK · LNbits · M-Pesa Daraja STK Push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27"/>
          <p:cNvSpPr/>
          <p:nvPr/>
        </p:nvSpPr>
        <p:spPr>
          <a:xfrm>
            <a:off x="320040" y="3639240"/>
            <a:ext cx="26510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Fastest payment rail on earth. Sats settle in seconds. Non-custodial per-user wallets. No bank. No delay.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28"/>
          <p:cNvSpPr/>
          <p:nvPr/>
        </p:nvSpPr>
        <p:spPr>
          <a:xfrm>
            <a:off x="3200400" y="2834640"/>
            <a:ext cx="2833920" cy="2010960"/>
          </a:xfrm>
          <a:prstGeom prst="rect">
            <a:avLst/>
          </a:prstGeom>
          <a:solidFill>
            <a:srgbClr val="141428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29"/>
          <p:cNvSpPr/>
          <p:nvPr/>
        </p:nvSpPr>
        <p:spPr>
          <a:xfrm>
            <a:off x="3200400" y="2834640"/>
            <a:ext cx="2833920" cy="34668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30"/>
          <p:cNvSpPr/>
          <p:nvPr/>
        </p:nvSpPr>
        <p:spPr>
          <a:xfrm>
            <a:off x="3291840" y="2862000"/>
            <a:ext cx="2651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02  Trust Score Engine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31"/>
          <p:cNvSpPr/>
          <p:nvPr/>
        </p:nvSpPr>
        <p:spPr>
          <a:xfrm>
            <a:off x="3291840" y="323712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f5a623"/>
                </a:solidFill>
                <a:latin typeface="Calibri"/>
              </a:rPr>
              <a:t>5-factor algorithm · 300–850 scale · FICO-like but Bitcoin-native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32"/>
          <p:cNvSpPr/>
          <p:nvPr/>
        </p:nvSpPr>
        <p:spPr>
          <a:xfrm>
            <a:off x="3291840" y="3639240"/>
            <a:ext cx="26510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35% Consistency · 25% Goals · 15% Tenure · 15% Velocity · 10% Repayment. Score persists on-chain forever.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33"/>
          <p:cNvSpPr/>
          <p:nvPr/>
        </p:nvSpPr>
        <p:spPr>
          <a:xfrm>
            <a:off x="6172200" y="2834640"/>
            <a:ext cx="2833920" cy="2010960"/>
          </a:xfrm>
          <a:prstGeom prst="rect">
            <a:avLst/>
          </a:prstGeom>
          <a:solidFill>
            <a:srgbClr val="141428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34"/>
          <p:cNvSpPr/>
          <p:nvPr/>
        </p:nvSpPr>
        <p:spPr>
          <a:xfrm>
            <a:off x="6172200" y="2834640"/>
            <a:ext cx="2833920" cy="346680"/>
          </a:xfrm>
          <a:prstGeom prst="rect">
            <a:avLst/>
          </a:prstGeom>
          <a:solidFill>
            <a:srgbClr val="9b59b6">
              <a:alpha val="20000"/>
            </a:srgbClr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35"/>
          <p:cNvSpPr/>
          <p:nvPr/>
        </p:nvSpPr>
        <p:spPr>
          <a:xfrm>
            <a:off x="6263640" y="2862000"/>
            <a:ext cx="26510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03  Akili AI Coach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36"/>
          <p:cNvSpPr/>
          <p:nvPr/>
        </p:nvSpPr>
        <p:spPr>
          <a:xfrm>
            <a:off x="6263640" y="3237120"/>
            <a:ext cx="26510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b59b6"/>
                </a:solidFill>
                <a:latin typeface="Calibri"/>
              </a:rPr>
              <a:t>Claude (Anthropic) · English + Swahili · Offline fallback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37"/>
          <p:cNvSpPr/>
          <p:nvPr/>
        </p:nvSpPr>
        <p:spPr>
          <a:xfrm>
            <a:off x="6263640" y="3639240"/>
            <a:ext cx="265104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Explains your score in plain English and Swahili. Personalized nudges to grow your savings streak.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"/>
          <p:cNvSpPr/>
          <p:nvPr/>
        </p:nvSpPr>
        <p:spPr>
          <a:xfrm>
            <a:off x="228600" y="25596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00c9a7"/>
                </a:solidFill>
                <a:latin typeface="Calibri"/>
              </a:rPr>
              <a:t>04  ·  TRACTION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2"/>
          <p:cNvSpPr/>
          <p:nvPr/>
        </p:nvSpPr>
        <p:spPr>
          <a:xfrm>
            <a:off x="228600" y="594360"/>
            <a:ext cx="64000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Georgia"/>
                <a:ea typeface="Georgia"/>
              </a:rPr>
              <a:t>Real Test Users. Real Data.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3"/>
          <p:cNvSpPr/>
          <p:nvPr/>
        </p:nvSpPr>
        <p:spPr>
          <a:xfrm>
            <a:off x="228600" y="1417320"/>
            <a:ext cx="1626840" cy="118800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4"/>
          <p:cNvSpPr/>
          <p:nvPr/>
        </p:nvSpPr>
        <p:spPr>
          <a:xfrm>
            <a:off x="274320" y="1481400"/>
            <a:ext cx="1535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c9a7"/>
                </a:solidFill>
                <a:latin typeface="Georgia"/>
                <a:ea typeface="Georgia"/>
              </a:rPr>
              <a:t>3+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"/>
          <p:cNvSpPr/>
          <p:nvPr/>
        </p:nvSpPr>
        <p:spPr>
          <a:xfrm>
            <a:off x="274320" y="2011680"/>
            <a:ext cx="1535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Signed Up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6"/>
          <p:cNvSpPr/>
          <p:nvPr/>
        </p:nvSpPr>
        <p:spPr>
          <a:xfrm>
            <a:off x="1984320" y="1417320"/>
            <a:ext cx="1626840" cy="1188000"/>
          </a:xfrm>
          <a:prstGeom prst="rect">
            <a:avLst/>
          </a:prstGeom>
          <a:solidFill>
            <a:srgbClr val="1a1a35"/>
          </a:solidFill>
          <a:ln w="12700">
            <a:solidFill>
              <a:srgbClr val="f5a623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2030040" y="1481400"/>
            <a:ext cx="1535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5a623"/>
                </a:solidFill>
                <a:latin typeface="Georgia"/>
                <a:ea typeface="Georgia"/>
              </a:rPr>
              <a:t>3+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8"/>
          <p:cNvSpPr/>
          <p:nvPr/>
        </p:nvSpPr>
        <p:spPr>
          <a:xfrm>
            <a:off x="2030040" y="2011680"/>
            <a:ext cx="1535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Deposits Made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3740040" y="1417320"/>
            <a:ext cx="1626840" cy="1188000"/>
          </a:xfrm>
          <a:prstGeom prst="rect">
            <a:avLst/>
          </a:prstGeom>
          <a:solidFill>
            <a:srgbClr val="1a1a35"/>
          </a:solidFill>
          <a:ln w="12700">
            <a:solidFill>
              <a:srgbClr val="9b59b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0"/>
          <p:cNvSpPr/>
          <p:nvPr/>
        </p:nvSpPr>
        <p:spPr>
          <a:xfrm>
            <a:off x="3785760" y="1481400"/>
            <a:ext cx="1535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9b59b6"/>
                </a:solidFill>
                <a:latin typeface="Georgia"/>
                <a:ea typeface="Georgia"/>
              </a:rPr>
              <a:t>3+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1"/>
          <p:cNvSpPr/>
          <p:nvPr/>
        </p:nvSpPr>
        <p:spPr>
          <a:xfrm>
            <a:off x="3785760" y="2011680"/>
            <a:ext cx="1535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Lightning Settled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12"/>
          <p:cNvSpPr/>
          <p:nvPr/>
        </p:nvSpPr>
        <p:spPr>
          <a:xfrm>
            <a:off x="5495400" y="1417320"/>
            <a:ext cx="1626840" cy="118800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3"/>
          <p:cNvSpPr/>
          <p:nvPr/>
        </p:nvSpPr>
        <p:spPr>
          <a:xfrm>
            <a:off x="5541120" y="1481400"/>
            <a:ext cx="1535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c9a7"/>
                </a:solidFill>
                <a:latin typeface="Georgia"/>
                <a:ea typeface="Georgia"/>
              </a:rPr>
              <a:t>400+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5541120" y="2011680"/>
            <a:ext cx="1535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Avg Trust Score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5"/>
          <p:cNvSpPr/>
          <p:nvPr/>
        </p:nvSpPr>
        <p:spPr>
          <a:xfrm>
            <a:off x="7251120" y="1417320"/>
            <a:ext cx="1626840" cy="1188000"/>
          </a:xfrm>
          <a:prstGeom prst="rect">
            <a:avLst/>
          </a:prstGeom>
          <a:solidFill>
            <a:srgbClr val="1a1a35"/>
          </a:solidFill>
          <a:ln w="12700">
            <a:solidFill>
              <a:srgbClr val="f5a623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6"/>
          <p:cNvSpPr/>
          <p:nvPr/>
        </p:nvSpPr>
        <p:spPr>
          <a:xfrm>
            <a:off x="7296840" y="1481400"/>
            <a:ext cx="15354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5a623"/>
                </a:solidFill>
                <a:latin typeface="Georgia"/>
                <a:ea typeface="Georgia"/>
              </a:rPr>
              <a:t>10+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7"/>
          <p:cNvSpPr/>
          <p:nvPr/>
        </p:nvSpPr>
        <p:spPr>
          <a:xfrm>
            <a:off x="7296840" y="2011680"/>
            <a:ext cx="1535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Trust Score Calcs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8"/>
          <p:cNvSpPr/>
          <p:nvPr/>
        </p:nvSpPr>
        <p:spPr>
          <a:xfrm>
            <a:off x="228600" y="2834640"/>
            <a:ext cx="868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f5a623"/>
                </a:solidFill>
                <a:latin typeface="Calibri"/>
              </a:rPr>
              <a:t>Tested with real users in Nairobi.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19"/>
          <p:cNvSpPr/>
          <p:nvPr/>
        </p:nvSpPr>
        <p:spPr>
          <a:xfrm>
            <a:off x="228600" y="3200400"/>
            <a:ext cx="2833920" cy="155376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0"/>
          <p:cNvSpPr/>
          <p:nvPr/>
        </p:nvSpPr>
        <p:spPr>
          <a:xfrm>
            <a:off x="228600" y="3200400"/>
            <a:ext cx="45000" cy="1553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21"/>
          <p:cNvSpPr/>
          <p:nvPr/>
        </p:nvSpPr>
        <p:spPr>
          <a:xfrm>
            <a:off x="365760" y="3291840"/>
            <a:ext cx="2605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"It came before I even put my phone down."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22"/>
          <p:cNvSpPr/>
          <p:nvPr/>
        </p:nvSpPr>
        <p:spPr>
          <a:xfrm>
            <a:off x="365760" y="414216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c9a7"/>
                </a:solidFill>
                <a:latin typeface="Calibri"/>
              </a:rPr>
              <a:t>— </a:t>
            </a:r>
            <a:r>
              <a:rPr b="0" lang="en-US" sz="950" spc="-1" strike="noStrike">
                <a:solidFill>
                  <a:srgbClr val="00c9a7"/>
                </a:solidFill>
                <a:latin typeface="Calibri"/>
              </a:rPr>
              <a:t>STK Push user, 3 seconds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23"/>
          <p:cNvSpPr/>
          <p:nvPr/>
        </p:nvSpPr>
        <p:spPr>
          <a:xfrm>
            <a:off x="3200400" y="3200400"/>
            <a:ext cx="2833920" cy="155376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24"/>
          <p:cNvSpPr/>
          <p:nvPr/>
        </p:nvSpPr>
        <p:spPr>
          <a:xfrm>
            <a:off x="3200400" y="3200400"/>
            <a:ext cx="45000" cy="1553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5"/>
          <p:cNvSpPr/>
          <p:nvPr/>
        </p:nvSpPr>
        <p:spPr>
          <a:xfrm>
            <a:off x="3337560" y="3291840"/>
            <a:ext cx="2605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"I understood it immediately. 100 shillings = 750 sats."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26"/>
          <p:cNvSpPr/>
          <p:nvPr/>
        </p:nvSpPr>
        <p:spPr>
          <a:xfrm>
            <a:off x="3337560" y="414216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c9a7"/>
                </a:solidFill>
                <a:latin typeface="Calibri"/>
              </a:rPr>
              <a:t>— </a:t>
            </a:r>
            <a:r>
              <a:rPr b="0" lang="en-US" sz="950" spc="-1" strike="noStrike">
                <a:solidFill>
                  <a:srgbClr val="00c9a7"/>
                </a:solidFill>
                <a:latin typeface="Calibri"/>
              </a:rPr>
              <a:t>KES→Sats clarity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27"/>
          <p:cNvSpPr/>
          <p:nvPr/>
        </p:nvSpPr>
        <p:spPr>
          <a:xfrm>
            <a:off x="6172200" y="3200400"/>
            <a:ext cx="2833920" cy="155376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28"/>
          <p:cNvSpPr/>
          <p:nvPr/>
        </p:nvSpPr>
        <p:spPr>
          <a:xfrm>
            <a:off x="6172200" y="3200400"/>
            <a:ext cx="45000" cy="15537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29"/>
          <p:cNvSpPr/>
          <p:nvPr/>
        </p:nvSpPr>
        <p:spPr>
          <a:xfrm>
            <a:off x="6309360" y="3291840"/>
            <a:ext cx="260532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</a:rPr>
              <a:t>"I didn't want to break my streak. That's the point."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30"/>
          <p:cNvSpPr/>
          <p:nvPr/>
        </p:nvSpPr>
        <p:spPr>
          <a:xfrm>
            <a:off x="6309360" y="4142160"/>
            <a:ext cx="2605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00c9a7"/>
                </a:solidFill>
                <a:latin typeface="Calibri"/>
              </a:rPr>
              <a:t>— </a:t>
            </a:r>
            <a:r>
              <a:rPr b="0" lang="en-US" sz="950" spc="-1" strike="noStrike">
                <a:solidFill>
                  <a:srgbClr val="00c9a7"/>
                </a:solidFill>
                <a:latin typeface="Calibri"/>
              </a:rPr>
              <a:t>Sats Tree engagement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228600" y="255960"/>
            <a:ext cx="640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f5a623"/>
                </a:solidFill>
                <a:latin typeface="Calibri"/>
              </a:rPr>
              <a:t>05  ·  MARKET OPPORTUNITY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228600" y="594360"/>
            <a:ext cx="5942880" cy="10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Georgia"/>
                <a:ea typeface="Georgia"/>
              </a:rPr>
              <a:t>A $50B+ Market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Georgia"/>
                <a:ea typeface="Georgia"/>
              </a:rPr>
              <a:t>Hiding in Plain Sight.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4572000" y="502920"/>
            <a:ext cx="4342680" cy="4342680"/>
          </a:xfrm>
          <a:prstGeom prst="ellipse">
            <a:avLst/>
          </a:prstGeom>
          <a:solidFill>
            <a:srgbClr val="00c9a7">
              <a:alpha val="12000"/>
            </a:srgbClr>
          </a:solidFill>
          <a:ln w="19050">
            <a:solidFill>
              <a:srgbClr val="00c9a7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4"/>
          <p:cNvSpPr/>
          <p:nvPr/>
        </p:nvSpPr>
        <p:spPr>
          <a:xfrm>
            <a:off x="5166360" y="1097280"/>
            <a:ext cx="3199680" cy="3199680"/>
          </a:xfrm>
          <a:prstGeom prst="ellipse">
            <a:avLst/>
          </a:prstGeom>
          <a:solidFill>
            <a:srgbClr val="f5a623">
              <a:alpha val="12000"/>
            </a:srgbClr>
          </a:solidFill>
          <a:ln w="19050">
            <a:solidFill>
              <a:srgbClr val="f5a623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5"/>
          <p:cNvSpPr/>
          <p:nvPr/>
        </p:nvSpPr>
        <p:spPr>
          <a:xfrm>
            <a:off x="5852160" y="1737360"/>
            <a:ext cx="1828080" cy="1828080"/>
          </a:xfrm>
          <a:prstGeom prst="ellipse">
            <a:avLst/>
          </a:prstGeom>
          <a:solidFill>
            <a:srgbClr val="ff6b6b">
              <a:alpha val="12000"/>
            </a:srgbClr>
          </a:solidFill>
          <a:ln w="19050">
            <a:solidFill>
              <a:srgbClr val="ff6b6b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4663440" y="621720"/>
            <a:ext cx="2010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c9a7"/>
                </a:solidFill>
                <a:latin typeface="Calibri"/>
              </a:rPr>
              <a:t>TAM  $50B+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5257800" y="118872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</a:rPr>
              <a:t>SAM  $8B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5943600" y="2304360"/>
            <a:ext cx="1828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6b6b"/>
                </a:solidFill>
                <a:latin typeface="Calibri"/>
              </a:rPr>
              <a:t>SOM  $120M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9"/>
          <p:cNvSpPr/>
          <p:nvPr/>
        </p:nvSpPr>
        <p:spPr>
          <a:xfrm>
            <a:off x="228600" y="1783080"/>
            <a:ext cx="4114080" cy="50256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0"/>
          <p:cNvSpPr/>
          <p:nvPr/>
        </p:nvSpPr>
        <p:spPr>
          <a:xfrm>
            <a:off x="320040" y="1819800"/>
            <a:ext cx="1370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a623"/>
                </a:solidFill>
                <a:latin typeface="Georgia"/>
                <a:ea typeface="Georgia"/>
              </a:rPr>
              <a:t>400M+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1"/>
          <p:cNvSpPr/>
          <p:nvPr/>
        </p:nvSpPr>
        <p:spPr>
          <a:xfrm>
            <a:off x="1737360" y="1929240"/>
            <a:ext cx="2468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2a4"/>
                </a:solidFill>
                <a:latin typeface="Calibri"/>
              </a:rPr>
              <a:t>Unbanked Africans total addressable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12"/>
          <p:cNvSpPr/>
          <p:nvPr/>
        </p:nvSpPr>
        <p:spPr>
          <a:xfrm>
            <a:off x="228600" y="2514600"/>
            <a:ext cx="4114080" cy="54792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13"/>
          <p:cNvSpPr/>
          <p:nvPr/>
        </p:nvSpPr>
        <p:spPr>
          <a:xfrm>
            <a:off x="320040" y="2569320"/>
            <a:ext cx="1370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a623"/>
                </a:solidFill>
                <a:latin typeface="Georgia"/>
                <a:ea typeface="Georgia"/>
              </a:rPr>
              <a:t>$53B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14"/>
          <p:cNvSpPr/>
          <p:nvPr/>
        </p:nvSpPr>
        <p:spPr>
          <a:xfrm>
            <a:off x="1737360" y="2679120"/>
            <a:ext cx="2468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2a4"/>
                </a:solidFill>
                <a:latin typeface="Calibri"/>
              </a:rPr>
              <a:t>Annual remittances, Africa 2024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15"/>
          <p:cNvSpPr/>
          <p:nvPr/>
        </p:nvSpPr>
        <p:spPr>
          <a:xfrm>
            <a:off x="228600" y="3282840"/>
            <a:ext cx="4114080" cy="52956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6"/>
          <p:cNvSpPr/>
          <p:nvPr/>
        </p:nvSpPr>
        <p:spPr>
          <a:xfrm>
            <a:off x="320040" y="3319200"/>
            <a:ext cx="1370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a623"/>
                </a:solidFill>
                <a:latin typeface="Georgia"/>
                <a:ea typeface="Georgia"/>
              </a:rPr>
              <a:t>67%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17"/>
          <p:cNvSpPr/>
          <p:nvPr/>
        </p:nvSpPr>
        <p:spPr>
          <a:xfrm>
            <a:off x="1737360" y="3429000"/>
            <a:ext cx="2468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2a4"/>
                </a:solidFill>
                <a:latin typeface="Calibri"/>
              </a:rPr>
              <a:t>Mobile money penetration, Sub-Saharan Africa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8"/>
          <p:cNvSpPr/>
          <p:nvPr/>
        </p:nvSpPr>
        <p:spPr>
          <a:xfrm>
            <a:off x="228600" y="4032360"/>
            <a:ext cx="4114080" cy="52992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9"/>
          <p:cNvSpPr/>
          <p:nvPr/>
        </p:nvSpPr>
        <p:spPr>
          <a:xfrm>
            <a:off x="320040" y="4069080"/>
            <a:ext cx="1370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5a623"/>
                </a:solidFill>
                <a:latin typeface="Georgia"/>
                <a:ea typeface="Georgia"/>
              </a:rPr>
              <a:t>0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20"/>
          <p:cNvSpPr/>
          <p:nvPr/>
        </p:nvSpPr>
        <p:spPr>
          <a:xfrm>
            <a:off x="1737360" y="4178880"/>
            <a:ext cx="24681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8892a4"/>
                </a:solidFill>
                <a:latin typeface="Calibri"/>
              </a:rPr>
              <a:t>Existing Bitcoin credit score products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Text 21"/>
          <p:cNvSpPr/>
          <p:nvPr/>
        </p:nvSpPr>
        <p:spPr>
          <a:xfrm>
            <a:off x="228600" y="4773240"/>
            <a:ext cx="8686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50" spc="-1" strike="noStrike">
                <a:solidFill>
                  <a:srgbClr val="00c9a7"/>
                </a:solidFill>
                <a:latin typeface="Calibri"/>
              </a:rPr>
              <a:t>We don't compete with banks. We solve what banks can't.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228600" y="25596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9b59b6"/>
                </a:solidFill>
                <a:latin typeface="Calibri"/>
              </a:rPr>
              <a:t>06  ·  THE MOAT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228600" y="594360"/>
            <a:ext cx="850320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Trust Score: Our Unfair Advantage.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228600" y="1371600"/>
            <a:ext cx="2468160" cy="3428280"/>
          </a:xfrm>
          <a:prstGeom prst="rect">
            <a:avLst/>
          </a:prstGeom>
          <a:solidFill>
            <a:srgbClr val="141428"/>
          </a:solidFill>
          <a:ln w="25400">
            <a:solidFill>
              <a:srgbClr val="f5a623"/>
            </a:solidFill>
            <a:round/>
          </a:ln>
          <a:effectLst>
            <a:outerShdw algn="bl" blurRad="177840" dir="8100000" dist="62621" kx="0" ky="0" rotWithShape="0" sx="100000" sy="10000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228600" y="1508760"/>
            <a:ext cx="246816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5a623"/>
                </a:solidFill>
                <a:latin typeface="Georgia"/>
                <a:ea typeface="Georgia"/>
              </a:rPr>
              <a:t>842</a:t>
            </a:r>
            <a:endParaRPr b="0" lang="en-U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228600" y="2450520"/>
            <a:ext cx="2468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395" strike="noStrike">
                <a:solidFill>
                  <a:srgbClr val="f5a623"/>
                </a:solidFill>
                <a:latin typeface="Calibri"/>
              </a:rPr>
              <a:t>PLATINUM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228600" y="2816280"/>
            <a:ext cx="246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Max loan: 500,000 sats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320040" y="3200400"/>
            <a:ext cx="2285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🌱 </a:t>
            </a: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Seed 300+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320040" y="3493080"/>
            <a:ext cx="2285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🥉 </a:t>
            </a: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Bronze 450+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320040" y="3785760"/>
            <a:ext cx="2285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🥈 </a:t>
            </a: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Silver 600+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320040" y="4078080"/>
            <a:ext cx="2285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🥇 </a:t>
            </a: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Gold 750+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320040" y="4370760"/>
            <a:ext cx="2285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-1" strike="noStrike">
                <a:solidFill>
                  <a:srgbClr val="f5a623"/>
                </a:solidFill>
                <a:latin typeface="Calibri"/>
              </a:rPr>
              <a:t>💎 </a:t>
            </a:r>
            <a:r>
              <a:rPr b="1" lang="en-US" sz="950" spc="-1" strike="noStrike">
                <a:solidFill>
                  <a:srgbClr val="f5a623"/>
                </a:solidFill>
                <a:latin typeface="Calibri"/>
              </a:rPr>
              <a:t>Platinum 850+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2926080" y="1371600"/>
            <a:ext cx="5942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Georgia"/>
                <a:ea typeface="Georgia"/>
              </a:rPr>
              <a:t>5-Factor Algorithm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2926080" y="192024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Savings Consistency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2926080" y="2139840"/>
            <a:ext cx="3474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a4"/>
                </a:solidFill>
                <a:latin typeface="Calibri"/>
              </a:rPr>
              <a:t>Weekly saving frequency over 8 weeks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15"/>
          <p:cNvSpPr/>
          <p:nvPr/>
        </p:nvSpPr>
        <p:spPr>
          <a:xfrm>
            <a:off x="6583680" y="1956960"/>
            <a:ext cx="2285280" cy="20052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Shape 16"/>
          <p:cNvSpPr/>
          <p:nvPr/>
        </p:nvSpPr>
        <p:spPr>
          <a:xfrm>
            <a:off x="6583680" y="1956960"/>
            <a:ext cx="799560" cy="2005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8942760" y="1956960"/>
            <a:ext cx="456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c9a7"/>
                </a:solidFill>
                <a:latin typeface="Calibri"/>
              </a:rPr>
              <a:t>35%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2926080" y="255132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Goal Completion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2926080" y="2770560"/>
            <a:ext cx="3474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a4"/>
                </a:solidFill>
                <a:latin typeface="Calibri"/>
              </a:rPr>
              <a:t>Goals hit on time vs. withdrawn early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Shape 20"/>
          <p:cNvSpPr/>
          <p:nvPr/>
        </p:nvSpPr>
        <p:spPr>
          <a:xfrm>
            <a:off x="6583680" y="2587680"/>
            <a:ext cx="2285280" cy="20052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21"/>
          <p:cNvSpPr/>
          <p:nvPr/>
        </p:nvSpPr>
        <p:spPr>
          <a:xfrm>
            <a:off x="6583680" y="2587680"/>
            <a:ext cx="570960" cy="20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2"/>
          <p:cNvSpPr/>
          <p:nvPr/>
        </p:nvSpPr>
        <p:spPr>
          <a:xfrm>
            <a:off x="8942760" y="2587680"/>
            <a:ext cx="456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a623"/>
                </a:solidFill>
                <a:latin typeface="Calibri"/>
              </a:rPr>
              <a:t>25%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23"/>
          <p:cNvSpPr/>
          <p:nvPr/>
        </p:nvSpPr>
        <p:spPr>
          <a:xfrm>
            <a:off x="2926080" y="318204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Account Tenure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2926080" y="3401640"/>
            <a:ext cx="3474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a4"/>
                </a:solidFill>
                <a:latin typeface="Calibri"/>
              </a:rPr>
              <a:t>Days on platform (log curve)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25"/>
          <p:cNvSpPr/>
          <p:nvPr/>
        </p:nvSpPr>
        <p:spPr>
          <a:xfrm>
            <a:off x="6583680" y="3218760"/>
            <a:ext cx="2285280" cy="20052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Shape 26"/>
          <p:cNvSpPr/>
          <p:nvPr/>
        </p:nvSpPr>
        <p:spPr>
          <a:xfrm>
            <a:off x="6583680" y="3218760"/>
            <a:ext cx="342360" cy="2005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27"/>
          <p:cNvSpPr/>
          <p:nvPr/>
        </p:nvSpPr>
        <p:spPr>
          <a:xfrm>
            <a:off x="8942760" y="3218760"/>
            <a:ext cx="456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9b59b6"/>
                </a:solidFill>
                <a:latin typeface="Calibri"/>
              </a:rPr>
              <a:t>15%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28"/>
          <p:cNvSpPr/>
          <p:nvPr/>
        </p:nvSpPr>
        <p:spPr>
          <a:xfrm>
            <a:off x="2926080" y="381312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Savings Velocity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Text 29"/>
          <p:cNvSpPr/>
          <p:nvPr/>
        </p:nvSpPr>
        <p:spPr>
          <a:xfrm>
            <a:off x="2926080" y="4032360"/>
            <a:ext cx="3474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a4"/>
                </a:solidFill>
                <a:latin typeface="Calibri"/>
              </a:rPr>
              <a:t>Month-over-month sats growth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30"/>
          <p:cNvSpPr/>
          <p:nvPr/>
        </p:nvSpPr>
        <p:spPr>
          <a:xfrm>
            <a:off x="6583680" y="3849480"/>
            <a:ext cx="2285280" cy="20052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31"/>
          <p:cNvSpPr/>
          <p:nvPr/>
        </p:nvSpPr>
        <p:spPr>
          <a:xfrm>
            <a:off x="6583680" y="3849480"/>
            <a:ext cx="342360" cy="2005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32"/>
          <p:cNvSpPr/>
          <p:nvPr/>
        </p:nvSpPr>
        <p:spPr>
          <a:xfrm>
            <a:off x="8942760" y="3849480"/>
            <a:ext cx="456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c9a7"/>
                </a:solidFill>
                <a:latin typeface="Calibri"/>
              </a:rPr>
              <a:t>15%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33"/>
          <p:cNvSpPr/>
          <p:nvPr/>
        </p:nvSpPr>
        <p:spPr>
          <a:xfrm>
            <a:off x="2926080" y="4443840"/>
            <a:ext cx="3199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Loan Repayment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34"/>
          <p:cNvSpPr/>
          <p:nvPr/>
        </p:nvSpPr>
        <p:spPr>
          <a:xfrm>
            <a:off x="2926080" y="4663440"/>
            <a:ext cx="34740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a4"/>
                </a:solidFill>
                <a:latin typeface="Calibri"/>
              </a:rPr>
              <a:t>On-time repayment rate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Shape 35"/>
          <p:cNvSpPr/>
          <p:nvPr/>
        </p:nvSpPr>
        <p:spPr>
          <a:xfrm>
            <a:off x="6583680" y="4480560"/>
            <a:ext cx="2285280" cy="20052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Shape 36"/>
          <p:cNvSpPr/>
          <p:nvPr/>
        </p:nvSpPr>
        <p:spPr>
          <a:xfrm>
            <a:off x="6583680" y="4480560"/>
            <a:ext cx="227880" cy="200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37"/>
          <p:cNvSpPr/>
          <p:nvPr/>
        </p:nvSpPr>
        <p:spPr>
          <a:xfrm>
            <a:off x="8942760" y="4480560"/>
            <a:ext cx="4564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5a623"/>
                </a:solidFill>
                <a:latin typeface="Calibri"/>
              </a:rPr>
              <a:t>10%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38"/>
          <p:cNvSpPr/>
          <p:nvPr/>
        </p:nvSpPr>
        <p:spPr>
          <a:xfrm>
            <a:off x="2926080" y="4681800"/>
            <a:ext cx="5942880" cy="319320"/>
          </a:xfrm>
          <a:prstGeom prst="rect">
            <a:avLst/>
          </a:prstGeom>
          <a:solidFill>
            <a:srgbClr val="1a1a35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39"/>
          <p:cNvSpPr/>
          <p:nvPr/>
        </p:nvSpPr>
        <p:spPr>
          <a:xfrm>
            <a:off x="3017520" y="4709160"/>
            <a:ext cx="5760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9b59b6"/>
                </a:solidFill>
                <a:latin typeface="Calibri"/>
              </a:rPr>
              <a:t>Score persists on-chain forever. Every user's history is a data flywheel competitors can't replicate.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228600" y="25596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00c9a7"/>
                </a:solidFill>
                <a:latin typeface="Calibri"/>
              </a:rPr>
              <a:t>07  ·  BUSINESS MODEL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228600" y="594360"/>
            <a:ext cx="5942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Multiple Streams. All Aligned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With User Success.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228600" y="1783080"/>
            <a:ext cx="2056680" cy="246816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4"/>
          <p:cNvSpPr/>
          <p:nvPr/>
        </p:nvSpPr>
        <p:spPr>
          <a:xfrm>
            <a:off x="228600" y="1783080"/>
            <a:ext cx="2056680" cy="383400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5"/>
          <p:cNvSpPr/>
          <p:nvPr/>
        </p:nvSpPr>
        <p:spPr>
          <a:xfrm>
            <a:off x="320040" y="1810440"/>
            <a:ext cx="18738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45" strike="noStrike">
                <a:solidFill>
                  <a:srgbClr val="ffffff"/>
                </a:solidFill>
                <a:latin typeface="Calibri"/>
              </a:rPr>
              <a:t>NOW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6"/>
          <p:cNvSpPr/>
          <p:nvPr/>
        </p:nvSpPr>
        <p:spPr>
          <a:xfrm>
            <a:off x="320040" y="2267640"/>
            <a:ext cx="18738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0c9a7"/>
                </a:solidFill>
                <a:latin typeface="Georgia"/>
                <a:ea typeface="Georgia"/>
              </a:rPr>
              <a:t>0.5% FX Spread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7"/>
          <p:cNvSpPr/>
          <p:nvPr/>
        </p:nvSpPr>
        <p:spPr>
          <a:xfrm>
            <a:off x="320040" y="2797920"/>
            <a:ext cx="1873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Every KES→Sats conversion. Invisible to user. Scales with volume.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2423160" y="1783080"/>
            <a:ext cx="2056680" cy="2468160"/>
          </a:xfrm>
          <a:prstGeom prst="rect">
            <a:avLst/>
          </a:prstGeom>
          <a:solidFill>
            <a:srgbClr val="141428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9"/>
          <p:cNvSpPr/>
          <p:nvPr/>
        </p:nvSpPr>
        <p:spPr>
          <a:xfrm>
            <a:off x="2423160" y="1783080"/>
            <a:ext cx="2056680" cy="383400"/>
          </a:xfrm>
          <a:prstGeom prst="rect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2514600" y="1810440"/>
            <a:ext cx="18738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45" strike="noStrike">
                <a:solidFill>
                  <a:srgbClr val="ffffff"/>
                </a:solidFill>
                <a:latin typeface="Calibri"/>
              </a:rPr>
              <a:t>MONTH 6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11"/>
          <p:cNvSpPr/>
          <p:nvPr/>
        </p:nvSpPr>
        <p:spPr>
          <a:xfrm>
            <a:off x="2514600" y="2267640"/>
            <a:ext cx="18738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5a623"/>
                </a:solidFill>
                <a:latin typeface="Georgia"/>
                <a:ea typeface="Georgia"/>
              </a:rPr>
              <a:t>5% Loan Interest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2514600" y="2797920"/>
            <a:ext cx="1873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Emergency loans backed by user's own sats. Fully collateralised. No default risk.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Shape 13"/>
          <p:cNvSpPr/>
          <p:nvPr/>
        </p:nvSpPr>
        <p:spPr>
          <a:xfrm>
            <a:off x="4617720" y="1783080"/>
            <a:ext cx="2056680" cy="2468160"/>
          </a:xfrm>
          <a:prstGeom prst="rect">
            <a:avLst/>
          </a:prstGeom>
          <a:solidFill>
            <a:srgbClr val="141428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Shape 14"/>
          <p:cNvSpPr/>
          <p:nvPr/>
        </p:nvSpPr>
        <p:spPr>
          <a:xfrm>
            <a:off x="4617720" y="1783080"/>
            <a:ext cx="2056680" cy="383400"/>
          </a:xfrm>
          <a:prstGeom prst="rect">
            <a:avLst/>
          </a:prstGeom>
          <a:solidFill>
            <a:srgbClr val="9b59b6">
              <a:alpha val="25000"/>
            </a:srgbClr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5"/>
          <p:cNvSpPr/>
          <p:nvPr/>
        </p:nvSpPr>
        <p:spPr>
          <a:xfrm>
            <a:off x="4709160" y="1810440"/>
            <a:ext cx="18738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45" strike="noStrike">
                <a:solidFill>
                  <a:srgbClr val="ffffff"/>
                </a:solidFill>
                <a:latin typeface="Calibri"/>
              </a:rPr>
              <a:t>YEAR 2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16"/>
          <p:cNvSpPr/>
          <p:nvPr/>
        </p:nvSpPr>
        <p:spPr>
          <a:xfrm>
            <a:off x="4709160" y="2267640"/>
            <a:ext cx="18738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9b59b6"/>
                </a:solidFill>
                <a:latin typeface="Georgia"/>
                <a:ea typeface="Georgia"/>
              </a:rPr>
              <a:t>B2B SaaS API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4709160" y="2797920"/>
            <a:ext cx="1873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License Trust Score to banks, SACCOs, microfinance institutions.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18"/>
          <p:cNvSpPr/>
          <p:nvPr/>
        </p:nvSpPr>
        <p:spPr>
          <a:xfrm>
            <a:off x="6812280" y="1783080"/>
            <a:ext cx="2056680" cy="2468160"/>
          </a:xfrm>
          <a:prstGeom prst="rect">
            <a:avLst/>
          </a:prstGeom>
          <a:solidFill>
            <a:srgbClr val="141428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19"/>
          <p:cNvSpPr/>
          <p:nvPr/>
        </p:nvSpPr>
        <p:spPr>
          <a:xfrm>
            <a:off x="6812280" y="1783080"/>
            <a:ext cx="2056680" cy="383400"/>
          </a:xfrm>
          <a:prstGeom prst="rect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20"/>
          <p:cNvSpPr/>
          <p:nvPr/>
        </p:nvSpPr>
        <p:spPr>
          <a:xfrm>
            <a:off x="6903720" y="1810440"/>
            <a:ext cx="18738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pc="145" strike="noStrike">
                <a:solidFill>
                  <a:srgbClr val="ffffff"/>
                </a:solidFill>
                <a:latin typeface="Calibri"/>
              </a:rPr>
              <a:t>YEAR 2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1"/>
          <p:cNvSpPr/>
          <p:nvPr/>
        </p:nvSpPr>
        <p:spPr>
          <a:xfrm>
            <a:off x="6903720" y="2267640"/>
            <a:ext cx="18738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6b6b"/>
                </a:solidFill>
                <a:latin typeface="Georgia"/>
                <a:ea typeface="Georgia"/>
              </a:rPr>
              <a:t>Premium Tier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22"/>
          <p:cNvSpPr/>
          <p:nvPr/>
        </p:nvSpPr>
        <p:spPr>
          <a:xfrm>
            <a:off x="6903720" y="2797920"/>
            <a:ext cx="1873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Auto-DCA, chama groups, higher limits, advanced analytics.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23"/>
          <p:cNvSpPr/>
          <p:nvPr/>
        </p:nvSpPr>
        <p:spPr>
          <a:xfrm>
            <a:off x="228600" y="4434840"/>
            <a:ext cx="8686080" cy="593640"/>
          </a:xfrm>
          <a:prstGeom prst="rect">
            <a:avLst/>
          </a:prstGeom>
          <a:solidFill>
            <a:srgbClr val="1a1a35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24"/>
          <p:cNvSpPr/>
          <p:nvPr/>
        </p:nvSpPr>
        <p:spPr>
          <a:xfrm>
            <a:off x="365760" y="4462200"/>
            <a:ext cx="22852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197" strike="noStrike">
                <a:solidFill>
                  <a:srgbClr val="f5a623"/>
                </a:solidFill>
                <a:latin typeface="Calibri"/>
              </a:rPr>
              <a:t>YEAR 1 UNIT ECONOMICS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25"/>
          <p:cNvSpPr/>
          <p:nvPr/>
        </p:nvSpPr>
        <p:spPr>
          <a:xfrm>
            <a:off x="2560320" y="4480560"/>
            <a:ext cx="155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c9a7"/>
                </a:solidFill>
                <a:latin typeface="Georgia"/>
                <a:ea typeface="Georgia"/>
              </a:rPr>
              <a:t>KES 200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26"/>
          <p:cNvSpPr/>
          <p:nvPr/>
        </p:nvSpPr>
        <p:spPr>
          <a:xfrm>
            <a:off x="2560320" y="4736520"/>
            <a:ext cx="1553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a4"/>
                </a:solidFill>
                <a:latin typeface="Calibri"/>
              </a:rPr>
              <a:t>CAC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27"/>
          <p:cNvSpPr/>
          <p:nvPr/>
        </p:nvSpPr>
        <p:spPr>
          <a:xfrm>
            <a:off x="4206240" y="4480560"/>
            <a:ext cx="155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c9a7"/>
                </a:solidFill>
                <a:latin typeface="Georgia"/>
                <a:ea typeface="Georgia"/>
              </a:rPr>
              <a:t>KES 1,200/yr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28"/>
          <p:cNvSpPr/>
          <p:nvPr/>
        </p:nvSpPr>
        <p:spPr>
          <a:xfrm>
            <a:off x="4206240" y="4736520"/>
            <a:ext cx="1553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a4"/>
                </a:solidFill>
                <a:latin typeface="Calibri"/>
              </a:rPr>
              <a:t>ARPU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29"/>
          <p:cNvSpPr/>
          <p:nvPr/>
        </p:nvSpPr>
        <p:spPr>
          <a:xfrm>
            <a:off x="5852160" y="4480560"/>
            <a:ext cx="155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c9a7"/>
                </a:solidFill>
                <a:latin typeface="Georgia"/>
                <a:ea typeface="Georgia"/>
              </a:rPr>
              <a:t>KES 8,400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30"/>
          <p:cNvSpPr/>
          <p:nvPr/>
        </p:nvSpPr>
        <p:spPr>
          <a:xfrm>
            <a:off x="5852160" y="4736520"/>
            <a:ext cx="1553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a4"/>
                </a:solidFill>
                <a:latin typeface="Calibri"/>
              </a:rPr>
              <a:t>LTV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31"/>
          <p:cNvSpPr/>
          <p:nvPr/>
        </p:nvSpPr>
        <p:spPr>
          <a:xfrm>
            <a:off x="7498080" y="4480560"/>
            <a:ext cx="155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c9a7"/>
                </a:solidFill>
                <a:latin typeface="Georgia"/>
                <a:ea typeface="Georgia"/>
              </a:rPr>
              <a:t>42x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32"/>
          <p:cNvSpPr/>
          <p:nvPr/>
        </p:nvSpPr>
        <p:spPr>
          <a:xfrm>
            <a:off x="7498080" y="4736520"/>
            <a:ext cx="155376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2a4"/>
                </a:solidFill>
                <a:latin typeface="Calibri"/>
              </a:rPr>
              <a:t>LTV:CAC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228600" y="255960"/>
            <a:ext cx="6400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f5a623"/>
                </a:solidFill>
                <a:latin typeface="Calibri"/>
              </a:rPr>
              <a:t>08  ·  TEAM  &amp;  GO-TO-MARKET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228600" y="594360"/>
            <a:ext cx="4114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Georgia"/>
                <a:ea typeface="Georgia"/>
              </a:rPr>
              <a:t>The Builder.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Shape 3"/>
          <p:cNvSpPr/>
          <p:nvPr/>
        </p:nvSpPr>
        <p:spPr>
          <a:xfrm>
            <a:off x="228600" y="1280160"/>
            <a:ext cx="1279440" cy="1279440"/>
          </a:xfrm>
          <a:prstGeom prst="ellipse">
            <a:avLst/>
          </a:prstGeom>
          <a:solidFill>
            <a:srgbClr val="1a1a35"/>
          </a:solidFill>
          <a:ln w="254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8" name="Image 0" descr="preencoded.png"/>
          <p:cNvPicPr/>
          <p:nvPr/>
        </p:nvPicPr>
        <p:blipFill>
          <a:blip r:embed="rId1"/>
          <a:stretch/>
        </p:blipFill>
        <p:spPr>
          <a:xfrm>
            <a:off x="502920" y="1554480"/>
            <a:ext cx="730800" cy="730800"/>
          </a:xfrm>
          <a:prstGeom prst="rect">
            <a:avLst/>
          </a:prstGeom>
          <a:ln w="0">
            <a:noFill/>
          </a:ln>
        </p:spPr>
      </p:pic>
      <p:sp>
        <p:nvSpPr>
          <p:cNvPr id="239" name="Text 4"/>
          <p:cNvSpPr/>
          <p:nvPr/>
        </p:nvSpPr>
        <p:spPr>
          <a:xfrm>
            <a:off x="1645920" y="1298520"/>
            <a:ext cx="2742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Lucy Kamau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1645920" y="1691640"/>
            <a:ext cx="2742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5a623"/>
                </a:solidFill>
                <a:latin typeface="Calibri"/>
              </a:rPr>
              <a:t>Founder &amp; CEO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1645920" y="2030040"/>
            <a:ext cx="2742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Designed, coded, shipped IshLu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1645920" y="2368440"/>
            <a:ext cx="2742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DadaHub Residency 2026, Nairobi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1645920" y="2706480"/>
            <a:ext cx="2742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▸  </a:t>
            </a: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Data Analyst and Software Developer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1645920" y="3044880"/>
            <a:ext cx="27424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11"/>
          <p:cNvSpPr/>
          <p:nvPr/>
        </p:nvSpPr>
        <p:spPr>
          <a:xfrm>
            <a:off x="320040" y="3438000"/>
            <a:ext cx="39312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12"/>
          <p:cNvSpPr/>
          <p:nvPr/>
        </p:nvSpPr>
        <p:spPr>
          <a:xfrm>
            <a:off x="4572000" y="594360"/>
            <a:ext cx="4342680" cy="4342680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13"/>
          <p:cNvSpPr/>
          <p:nvPr/>
        </p:nvSpPr>
        <p:spPr>
          <a:xfrm>
            <a:off x="4709160" y="731520"/>
            <a:ext cx="4022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Go-To-Market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14"/>
          <p:cNvSpPr/>
          <p:nvPr/>
        </p:nvSpPr>
        <p:spPr>
          <a:xfrm>
            <a:off x="4709160" y="1325880"/>
            <a:ext cx="4068360" cy="10234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15"/>
          <p:cNvSpPr/>
          <p:nvPr/>
        </p:nvSpPr>
        <p:spPr>
          <a:xfrm>
            <a:off x="4827960" y="139896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c9a7"/>
                </a:solidFill>
                <a:latin typeface="Calibri"/>
              </a:rPr>
              <a:t>Phase 1 — M1–M6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6"/>
          <p:cNvSpPr/>
          <p:nvPr/>
        </p:nvSpPr>
        <p:spPr>
          <a:xfrm>
            <a:off x="4827960" y="1710000"/>
            <a:ext cx="3748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500 users via DadaHub community + M-Pesa word-of-mouth. CAC: KES 200. Zero paid ads.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17"/>
          <p:cNvSpPr/>
          <p:nvPr/>
        </p:nvSpPr>
        <p:spPr>
          <a:xfrm>
            <a:off x="4709160" y="2487240"/>
            <a:ext cx="4068360" cy="1023480"/>
          </a:xfrm>
          <a:prstGeom prst="rect">
            <a:avLst/>
          </a:prstGeom>
          <a:solidFill>
            <a:srgbClr val="1a1a35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18"/>
          <p:cNvSpPr/>
          <p:nvPr/>
        </p:nvSpPr>
        <p:spPr>
          <a:xfrm>
            <a:off x="4827960" y="256032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5a623"/>
                </a:solidFill>
                <a:latin typeface="Calibri"/>
              </a:rPr>
              <a:t>Phase 2 — M6–M12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19"/>
          <p:cNvSpPr/>
          <p:nvPr/>
        </p:nvSpPr>
        <p:spPr>
          <a:xfrm>
            <a:off x="4827960" y="2871360"/>
            <a:ext cx="3748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SACCOs &amp; chamas as distribution. 10% revenue share = zero direct acquisition cost.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20"/>
          <p:cNvSpPr/>
          <p:nvPr/>
        </p:nvSpPr>
        <p:spPr>
          <a:xfrm>
            <a:off x="4709160" y="3648600"/>
            <a:ext cx="4068360" cy="1023480"/>
          </a:xfrm>
          <a:prstGeom prst="rect">
            <a:avLst/>
          </a:prstGeom>
          <a:solidFill>
            <a:srgbClr val="1a1a35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21"/>
          <p:cNvSpPr/>
          <p:nvPr/>
        </p:nvSpPr>
        <p:spPr>
          <a:xfrm>
            <a:off x="4827960" y="3721680"/>
            <a:ext cx="3748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9b59b6"/>
                </a:solidFill>
                <a:latin typeface="Calibri"/>
              </a:rPr>
              <a:t>Phase 3 — M12+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22"/>
          <p:cNvSpPr/>
          <p:nvPr/>
        </p:nvSpPr>
        <p:spPr>
          <a:xfrm>
            <a:off x="4827960" y="4032360"/>
            <a:ext cx="3748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B2B API licensing to SACCOs, microfinance, banks. Kenya → Nigeria expansion.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23"/>
          <p:cNvSpPr/>
          <p:nvPr/>
        </p:nvSpPr>
        <p:spPr>
          <a:xfrm>
            <a:off x="4617720" y="4754880"/>
            <a:ext cx="42969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f5a623"/>
                </a:solidFill>
                <a:latin typeface="Calibri"/>
              </a:rPr>
              <a:t>500 users M3  →  KES 2M ARR M9  →  Series A ready M18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0"/>
          <p:cNvSpPr/>
          <p:nvPr/>
        </p:nvSpPr>
        <p:spPr>
          <a:xfrm>
            <a:off x="-1371600" y="3200400"/>
            <a:ext cx="5485680" cy="548568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1"/>
          <p:cNvSpPr/>
          <p:nvPr/>
        </p:nvSpPr>
        <p:spPr>
          <a:xfrm>
            <a:off x="6400800" y="-914400"/>
            <a:ext cx="4571280" cy="457128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3"/>
          <p:cNvSpPr/>
          <p:nvPr/>
        </p:nvSpPr>
        <p:spPr>
          <a:xfrm>
            <a:off x="228600" y="255960"/>
            <a:ext cx="45712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ff6b6b"/>
                </a:solidFill>
                <a:latin typeface="Calibri"/>
              </a:rPr>
              <a:t>09  ·  THE ASK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4"/>
          <p:cNvSpPr/>
          <p:nvPr/>
        </p:nvSpPr>
        <p:spPr>
          <a:xfrm>
            <a:off x="228600" y="594360"/>
            <a:ext cx="54856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Georgia"/>
                <a:ea typeface="Georgia"/>
              </a:rPr>
              <a:t>Pre-Seed.</a:t>
            </a:r>
            <a:endParaRPr b="0" lang="en-US" sz="5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5"/>
          <p:cNvSpPr/>
          <p:nvPr/>
        </p:nvSpPr>
        <p:spPr>
          <a:xfrm>
            <a:off x="228600" y="1389960"/>
            <a:ext cx="84117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5a623"/>
                </a:solidFill>
                <a:latin typeface="Calibri"/>
              </a:rPr>
              <a:t>$150,000  ·  SAFE  ·  $1M Cap  ·  20% Discount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6"/>
          <p:cNvSpPr/>
          <p:nvPr/>
        </p:nvSpPr>
        <p:spPr>
          <a:xfrm>
            <a:off x="228600" y="1965960"/>
            <a:ext cx="2084040" cy="150804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7"/>
          <p:cNvSpPr/>
          <p:nvPr/>
        </p:nvSpPr>
        <p:spPr>
          <a:xfrm>
            <a:off x="274320" y="2030040"/>
            <a:ext cx="19926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0c9a7"/>
                </a:solidFill>
                <a:latin typeface="Georgia"/>
                <a:ea typeface="Georgia"/>
              </a:rPr>
              <a:t>40%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8"/>
          <p:cNvSpPr/>
          <p:nvPr/>
        </p:nvSpPr>
        <p:spPr>
          <a:xfrm>
            <a:off x="274320" y="2578680"/>
            <a:ext cx="199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$60K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9"/>
          <p:cNvSpPr/>
          <p:nvPr/>
        </p:nvSpPr>
        <p:spPr>
          <a:xfrm>
            <a:off x="274320" y="2853000"/>
            <a:ext cx="19926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Product &amp; Engineering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10"/>
          <p:cNvSpPr/>
          <p:nvPr/>
        </p:nvSpPr>
        <p:spPr>
          <a:xfrm>
            <a:off x="2441520" y="1965960"/>
            <a:ext cx="2084040" cy="1508040"/>
          </a:xfrm>
          <a:prstGeom prst="rect">
            <a:avLst/>
          </a:prstGeom>
          <a:solidFill>
            <a:srgbClr val="141428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11"/>
          <p:cNvSpPr/>
          <p:nvPr/>
        </p:nvSpPr>
        <p:spPr>
          <a:xfrm>
            <a:off x="2487240" y="2030040"/>
            <a:ext cx="19926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5a623"/>
                </a:solidFill>
                <a:latin typeface="Georgia"/>
                <a:ea typeface="Georgia"/>
              </a:rPr>
              <a:t>30%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12"/>
          <p:cNvSpPr/>
          <p:nvPr/>
        </p:nvSpPr>
        <p:spPr>
          <a:xfrm>
            <a:off x="2487240" y="2578680"/>
            <a:ext cx="199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$45K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13"/>
          <p:cNvSpPr/>
          <p:nvPr/>
        </p:nvSpPr>
        <p:spPr>
          <a:xfrm>
            <a:off x="2487240" y="2853000"/>
            <a:ext cx="19926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User Acquisition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14"/>
          <p:cNvSpPr/>
          <p:nvPr/>
        </p:nvSpPr>
        <p:spPr>
          <a:xfrm>
            <a:off x="4654440" y="1965960"/>
            <a:ext cx="2084040" cy="1508040"/>
          </a:xfrm>
          <a:prstGeom prst="rect">
            <a:avLst/>
          </a:prstGeom>
          <a:solidFill>
            <a:srgbClr val="141428"/>
          </a:solidFill>
          <a:ln w="12700">
            <a:solidFill>
              <a:srgbClr val="9b59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15"/>
          <p:cNvSpPr/>
          <p:nvPr/>
        </p:nvSpPr>
        <p:spPr>
          <a:xfrm>
            <a:off x="4700160" y="2030040"/>
            <a:ext cx="19926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9b59b6"/>
                </a:solidFill>
                <a:latin typeface="Georgia"/>
                <a:ea typeface="Georgia"/>
              </a:rPr>
              <a:t>20%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16"/>
          <p:cNvSpPr/>
          <p:nvPr/>
        </p:nvSpPr>
        <p:spPr>
          <a:xfrm>
            <a:off x="4700160" y="2578680"/>
            <a:ext cx="199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$30K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17"/>
          <p:cNvSpPr/>
          <p:nvPr/>
        </p:nvSpPr>
        <p:spPr>
          <a:xfrm>
            <a:off x="4700160" y="2853000"/>
            <a:ext cx="19926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Compliance &amp; Legal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18"/>
          <p:cNvSpPr/>
          <p:nvPr/>
        </p:nvSpPr>
        <p:spPr>
          <a:xfrm>
            <a:off x="6867000" y="1965960"/>
            <a:ext cx="2084040" cy="1508040"/>
          </a:xfrm>
          <a:prstGeom prst="rect">
            <a:avLst/>
          </a:prstGeom>
          <a:solidFill>
            <a:srgbClr val="141428"/>
          </a:solidFill>
          <a:ln w="127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19"/>
          <p:cNvSpPr/>
          <p:nvPr/>
        </p:nvSpPr>
        <p:spPr>
          <a:xfrm>
            <a:off x="6912720" y="2030040"/>
            <a:ext cx="199260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6b6b"/>
                </a:solidFill>
                <a:latin typeface="Georgia"/>
                <a:ea typeface="Georgia"/>
              </a:rPr>
              <a:t>10%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20"/>
          <p:cNvSpPr/>
          <p:nvPr/>
        </p:nvSpPr>
        <p:spPr>
          <a:xfrm>
            <a:off x="6912720" y="2578680"/>
            <a:ext cx="1992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$15K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21"/>
          <p:cNvSpPr/>
          <p:nvPr/>
        </p:nvSpPr>
        <p:spPr>
          <a:xfrm>
            <a:off x="6912720" y="2853000"/>
            <a:ext cx="199260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Operations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22"/>
          <p:cNvSpPr/>
          <p:nvPr/>
        </p:nvSpPr>
        <p:spPr>
          <a:xfrm>
            <a:off x="228600" y="3611880"/>
            <a:ext cx="8686080" cy="105084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23"/>
          <p:cNvSpPr/>
          <p:nvPr/>
        </p:nvSpPr>
        <p:spPr>
          <a:xfrm>
            <a:off x="365760" y="3657600"/>
            <a:ext cx="3656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7" strike="noStrike">
                <a:solidFill>
                  <a:srgbClr val="00c9a7"/>
                </a:solidFill>
                <a:latin typeface="Calibri"/>
              </a:rPr>
              <a:t>WHAT THIS FUNDING UNLOCKS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24"/>
          <p:cNvSpPr/>
          <p:nvPr/>
        </p:nvSpPr>
        <p:spPr>
          <a:xfrm>
            <a:off x="914400" y="3931920"/>
            <a:ext cx="255240" cy="2552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25"/>
          <p:cNvSpPr/>
          <p:nvPr/>
        </p:nvSpPr>
        <p:spPr>
          <a:xfrm>
            <a:off x="1234440" y="3931920"/>
            <a:ext cx="2193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2000 users by M3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Shape 26"/>
          <p:cNvSpPr/>
          <p:nvPr/>
        </p:nvSpPr>
        <p:spPr>
          <a:xfrm>
            <a:off x="3657600" y="3931920"/>
            <a:ext cx="255240" cy="2552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27"/>
          <p:cNvSpPr/>
          <p:nvPr/>
        </p:nvSpPr>
        <p:spPr>
          <a:xfrm>
            <a:off x="3977640" y="3931920"/>
            <a:ext cx="2193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KES 6M ARR by M9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28"/>
          <p:cNvSpPr/>
          <p:nvPr/>
        </p:nvSpPr>
        <p:spPr>
          <a:xfrm>
            <a:off x="6400800" y="3931920"/>
            <a:ext cx="255240" cy="25524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29"/>
          <p:cNvSpPr/>
          <p:nvPr/>
        </p:nvSpPr>
        <p:spPr>
          <a:xfrm>
            <a:off x="6720840" y="3931920"/>
            <a:ext cx="2193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Series A ready M18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30"/>
          <p:cNvSpPr/>
          <p:nvPr/>
        </p:nvSpPr>
        <p:spPr>
          <a:xfrm>
            <a:off x="0" y="4754880"/>
            <a:ext cx="9143280" cy="388080"/>
          </a:xfrm>
          <a:prstGeom prst="rect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31"/>
          <p:cNvSpPr/>
          <p:nvPr/>
        </p:nvSpPr>
        <p:spPr>
          <a:xfrm>
            <a:off x="0" y="47822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46" strike="noStrike">
                <a:solidFill>
                  <a:srgbClr val="00c9a7"/>
                </a:solidFill>
                <a:latin typeface="Calibri"/>
              </a:rPr>
              <a:t>lucyk7770@gmail.com  ·  +254 740 683 490  ·  @TheeNerdd  ·  github.com/650DataNerd/IshLu_SatsSaver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32"/>
          <p:cNvSpPr/>
          <p:nvPr/>
        </p:nvSpPr>
        <p:spPr>
          <a:xfrm>
            <a:off x="228600" y="5074920"/>
            <a:ext cx="868608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" spc="-1" strike="noStrike">
                <a:solidFill>
                  <a:srgbClr val="0a0a1a"/>
                </a:solidFill>
                <a:latin typeface="Calibri"/>
              </a:rPr>
              <a:t>IshLu SatsSaver  ·  Your Wealth is Rooted.</a:t>
            </a:r>
            <a:endParaRPr b="0" lang="en-US" sz="1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228600" y="255960"/>
            <a:ext cx="5485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6" strike="noStrike">
                <a:solidFill>
                  <a:srgbClr val="00c9a7"/>
                </a:solidFill>
                <a:latin typeface="Calibri"/>
              </a:rPr>
              <a:t>MINUTE 2  ·  LIVE DEMO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228600" y="594360"/>
            <a:ext cx="6400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Georgia"/>
                <a:ea typeface="Georgia"/>
              </a:rPr>
              <a:t>Watch It Work.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3"/>
          <p:cNvSpPr/>
          <p:nvPr/>
        </p:nvSpPr>
        <p:spPr>
          <a:xfrm>
            <a:off x="228600" y="130752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f5a623"/>
                </a:solidFill>
                <a:latin typeface="Calibri"/>
              </a:rPr>
              <a:t>KES 100  →  750 sats. Bitcoin. Forever.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Shape 10"/>
          <p:cNvSpPr/>
          <p:nvPr/>
        </p:nvSpPr>
        <p:spPr>
          <a:xfrm>
            <a:off x="5349240" y="1819800"/>
            <a:ext cx="474840" cy="47484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11"/>
          <p:cNvSpPr/>
          <p:nvPr/>
        </p:nvSpPr>
        <p:spPr>
          <a:xfrm>
            <a:off x="5349240" y="181980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c9a7"/>
                </a:solidFill>
                <a:latin typeface="Calibri"/>
              </a:rPr>
              <a:t>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12"/>
          <p:cNvSpPr/>
          <p:nvPr/>
        </p:nvSpPr>
        <p:spPr>
          <a:xfrm>
            <a:off x="5943600" y="1819800"/>
            <a:ext cx="2925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Open App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13"/>
          <p:cNvSpPr/>
          <p:nvPr/>
        </p:nvSpPr>
        <p:spPr>
          <a:xfrm>
            <a:off x="5943600" y="2057400"/>
            <a:ext cx="2925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Dashboard with Sats Tree loads instantly.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Shape 14"/>
          <p:cNvSpPr/>
          <p:nvPr/>
        </p:nvSpPr>
        <p:spPr>
          <a:xfrm>
            <a:off x="5559480" y="2313360"/>
            <a:ext cx="54000" cy="136440"/>
          </a:xfrm>
          <a:prstGeom prst="rect">
            <a:avLst/>
          </a:prstGeom>
          <a:solidFill>
            <a:srgbClr val="8892a4">
              <a:alpha val="40000"/>
            </a:srgbClr>
          </a:solidFill>
          <a:ln w="12700">
            <a:solidFill>
              <a:srgbClr val="8892a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Shape 15"/>
          <p:cNvSpPr/>
          <p:nvPr/>
        </p:nvSpPr>
        <p:spPr>
          <a:xfrm>
            <a:off x="5349240" y="2441520"/>
            <a:ext cx="474840" cy="47484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16"/>
          <p:cNvSpPr/>
          <p:nvPr/>
        </p:nvSpPr>
        <p:spPr>
          <a:xfrm>
            <a:off x="5349240" y="244152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5a623"/>
                </a:solidFill>
                <a:latin typeface="Calibri"/>
              </a:rPr>
              <a:t>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17"/>
          <p:cNvSpPr/>
          <p:nvPr/>
        </p:nvSpPr>
        <p:spPr>
          <a:xfrm>
            <a:off x="5943600" y="2441520"/>
            <a:ext cx="2925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Tap Save → M-Pesa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18"/>
          <p:cNvSpPr/>
          <p:nvPr/>
        </p:nvSpPr>
        <p:spPr>
          <a:xfrm>
            <a:off x="5943600" y="2679120"/>
            <a:ext cx="2925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Select KES 100. One tap.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Shape 19"/>
          <p:cNvSpPr/>
          <p:nvPr/>
        </p:nvSpPr>
        <p:spPr>
          <a:xfrm>
            <a:off x="5559480" y="2935080"/>
            <a:ext cx="54000" cy="136440"/>
          </a:xfrm>
          <a:prstGeom prst="rect">
            <a:avLst/>
          </a:prstGeom>
          <a:solidFill>
            <a:srgbClr val="8892a4">
              <a:alpha val="40000"/>
            </a:srgbClr>
          </a:solidFill>
          <a:ln w="12700">
            <a:solidFill>
              <a:srgbClr val="8892a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20"/>
          <p:cNvSpPr/>
          <p:nvPr/>
        </p:nvSpPr>
        <p:spPr>
          <a:xfrm>
            <a:off x="5349240" y="3063240"/>
            <a:ext cx="474840" cy="47484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21"/>
          <p:cNvSpPr/>
          <p:nvPr/>
        </p:nvSpPr>
        <p:spPr>
          <a:xfrm>
            <a:off x="5349240" y="306324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c9a7"/>
                </a:solidFill>
                <a:latin typeface="Calibri"/>
              </a:rPr>
              <a:t>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22"/>
          <p:cNvSpPr/>
          <p:nvPr/>
        </p:nvSpPr>
        <p:spPr>
          <a:xfrm>
            <a:off x="5943600" y="3063240"/>
            <a:ext cx="2925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Phone Vibrates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23"/>
          <p:cNvSpPr/>
          <p:nvPr/>
        </p:nvSpPr>
        <p:spPr>
          <a:xfrm>
            <a:off x="5943600" y="3300840"/>
            <a:ext cx="2925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M-Pesa STK Push arrives in 3 seconds.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Shape 24"/>
          <p:cNvSpPr/>
          <p:nvPr/>
        </p:nvSpPr>
        <p:spPr>
          <a:xfrm>
            <a:off x="5559480" y="3557160"/>
            <a:ext cx="54000" cy="136440"/>
          </a:xfrm>
          <a:prstGeom prst="rect">
            <a:avLst/>
          </a:prstGeom>
          <a:solidFill>
            <a:srgbClr val="8892a4">
              <a:alpha val="40000"/>
            </a:srgbClr>
          </a:solidFill>
          <a:ln w="12700">
            <a:solidFill>
              <a:srgbClr val="8892a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Shape 25"/>
          <p:cNvSpPr/>
          <p:nvPr/>
        </p:nvSpPr>
        <p:spPr>
          <a:xfrm>
            <a:off x="5349240" y="3684960"/>
            <a:ext cx="474840" cy="47484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26"/>
          <p:cNvSpPr/>
          <p:nvPr/>
        </p:nvSpPr>
        <p:spPr>
          <a:xfrm>
            <a:off x="5349240" y="368496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5a623"/>
                </a:solidFill>
                <a:latin typeface="Calibri"/>
              </a:rPr>
              <a:t>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27"/>
          <p:cNvSpPr/>
          <p:nvPr/>
        </p:nvSpPr>
        <p:spPr>
          <a:xfrm>
            <a:off x="5943600" y="3684960"/>
            <a:ext cx="2925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Enter PIN → Confirm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28"/>
          <p:cNvSpPr/>
          <p:nvPr/>
        </p:nvSpPr>
        <p:spPr>
          <a:xfrm>
            <a:off x="5943600" y="3922920"/>
            <a:ext cx="2925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Standard M-Pesa flow. No new habits.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29"/>
          <p:cNvSpPr/>
          <p:nvPr/>
        </p:nvSpPr>
        <p:spPr>
          <a:xfrm>
            <a:off x="5559480" y="4178880"/>
            <a:ext cx="54000" cy="136440"/>
          </a:xfrm>
          <a:prstGeom prst="rect">
            <a:avLst/>
          </a:prstGeom>
          <a:solidFill>
            <a:srgbClr val="8892a4">
              <a:alpha val="40000"/>
            </a:srgbClr>
          </a:solidFill>
          <a:ln w="12700">
            <a:solidFill>
              <a:srgbClr val="8892a4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30"/>
          <p:cNvSpPr/>
          <p:nvPr/>
        </p:nvSpPr>
        <p:spPr>
          <a:xfrm>
            <a:off x="5349240" y="4306680"/>
            <a:ext cx="474840" cy="47484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31"/>
          <p:cNvSpPr/>
          <p:nvPr/>
        </p:nvSpPr>
        <p:spPr>
          <a:xfrm>
            <a:off x="5349240" y="4306680"/>
            <a:ext cx="474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c9a7"/>
                </a:solidFill>
                <a:latin typeface="Calibri"/>
              </a:rPr>
              <a:t>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32"/>
          <p:cNvSpPr/>
          <p:nvPr/>
        </p:nvSpPr>
        <p:spPr>
          <a:xfrm>
            <a:off x="5943600" y="4306680"/>
            <a:ext cx="292536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</a:rPr>
              <a:t>Sats Credited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33"/>
          <p:cNvSpPr/>
          <p:nvPr/>
        </p:nvSpPr>
        <p:spPr>
          <a:xfrm>
            <a:off x="5943600" y="4544640"/>
            <a:ext cx="2925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8892a4"/>
                </a:solidFill>
                <a:latin typeface="Calibri"/>
              </a:rPr>
              <a:t>Tree grows. Balance updates. Bitcoin yours.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9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972800" y="1783080"/>
            <a:ext cx="1357200" cy="3016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video>
              <p:cMediaNode>
                <p:cTn>
                  <p:stCondLst>
                    <p:cond delay="indefinite"/>
                  </p:stCondLst>
                </p:cTn>
                <p:tgtEl>
                  <p:spTgt spid="31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0"/>
          <p:cNvSpPr/>
          <p:nvPr/>
        </p:nvSpPr>
        <p:spPr>
          <a:xfrm>
            <a:off x="-1828800" y="-1828800"/>
            <a:ext cx="7314480" cy="731448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Shape 1"/>
          <p:cNvSpPr/>
          <p:nvPr/>
        </p:nvSpPr>
        <p:spPr>
          <a:xfrm>
            <a:off x="4572000" y="1828800"/>
            <a:ext cx="6400080" cy="640008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2"/>
          <p:cNvSpPr/>
          <p:nvPr/>
        </p:nvSpPr>
        <p:spPr>
          <a:xfrm>
            <a:off x="2743200" y="-914400"/>
            <a:ext cx="3656880" cy="3656880"/>
          </a:xfrm>
          <a:prstGeom prst="ellipse">
            <a:avLst/>
          </a:prstGeom>
          <a:solidFill>
            <a:srgbClr val="9b59b6">
              <a:alpha val="5000"/>
            </a:srgbClr>
          </a:solidFill>
          <a:ln w="12700">
            <a:solidFill>
              <a:srgbClr val="9b59b6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Shape 3"/>
          <p:cNvSpPr/>
          <p:nvPr/>
        </p:nvSpPr>
        <p:spPr>
          <a:xfrm>
            <a:off x="0" y="0"/>
            <a:ext cx="54000" cy="514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4" name="Image 0" descr="preencoded.png"/>
          <p:cNvPicPr/>
          <p:nvPr/>
        </p:nvPicPr>
        <p:blipFill>
          <a:blip r:embed="rId1">
            <a:alphaModFix amt="18000"/>
          </a:blip>
          <a:stretch/>
        </p:blipFill>
        <p:spPr>
          <a:xfrm>
            <a:off x="5943600" y="457200"/>
            <a:ext cx="2925360" cy="2925360"/>
          </a:xfrm>
          <a:prstGeom prst="rect">
            <a:avLst/>
          </a:prstGeom>
          <a:ln w="0">
            <a:noFill/>
          </a:ln>
        </p:spPr>
      </p:pic>
      <p:sp>
        <p:nvSpPr>
          <p:cNvPr id="325" name="Text 4"/>
          <p:cNvSpPr/>
          <p:nvPr/>
        </p:nvSpPr>
        <p:spPr>
          <a:xfrm>
            <a:off x="320040" y="685800"/>
            <a:ext cx="59428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IshLu SatsSaver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5"/>
          <p:cNvSpPr/>
          <p:nvPr/>
        </p:nvSpPr>
        <p:spPr>
          <a:xfrm>
            <a:off x="320040" y="1572840"/>
            <a:ext cx="5302800" cy="360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6"/>
          <p:cNvSpPr/>
          <p:nvPr/>
        </p:nvSpPr>
        <p:spPr>
          <a:xfrm>
            <a:off x="320040" y="1710000"/>
            <a:ext cx="77716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4400" spc="-1" strike="noStrike">
                <a:solidFill>
                  <a:srgbClr val="f5a623"/>
                </a:solidFill>
                <a:latin typeface="Georgia"/>
                <a:ea typeface="Georgia"/>
              </a:rPr>
              <a:t>Your Wealth is Rooted.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7"/>
          <p:cNvSpPr/>
          <p:nvPr/>
        </p:nvSpPr>
        <p:spPr>
          <a:xfrm>
            <a:off x="320040" y="2697480"/>
            <a:ext cx="68572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5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8f0fe"/>
                </a:solidFill>
                <a:latin typeface="Calibri"/>
              </a:rPr>
              <a:t>IshLu SatsSaver is how 400M Africans start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55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e8f0fe"/>
                </a:solidFill>
                <a:latin typeface="Calibri"/>
              </a:rPr>
              <a:t>building Bitcoin wealth  one shilling at a time.</a:t>
            </a:r>
            <a:endParaRPr b="0" lang="en-US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8"/>
          <p:cNvSpPr/>
          <p:nvPr/>
        </p:nvSpPr>
        <p:spPr>
          <a:xfrm>
            <a:off x="320040" y="3657600"/>
            <a:ext cx="2010960" cy="3466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9"/>
          <p:cNvSpPr/>
          <p:nvPr/>
        </p:nvSpPr>
        <p:spPr>
          <a:xfrm>
            <a:off x="320040" y="367596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6" strike="noStrike">
                <a:solidFill>
                  <a:srgbClr val="00c9a7"/>
                </a:solidFill>
                <a:latin typeface="Calibri"/>
              </a:rPr>
              <a:t>Build in Public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10"/>
          <p:cNvSpPr/>
          <p:nvPr/>
        </p:nvSpPr>
        <p:spPr>
          <a:xfrm>
            <a:off x="2496240" y="3657600"/>
            <a:ext cx="2010960" cy="3466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11"/>
          <p:cNvSpPr/>
          <p:nvPr/>
        </p:nvSpPr>
        <p:spPr>
          <a:xfrm>
            <a:off x="2496240" y="367596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6" strike="noStrike">
                <a:solidFill>
                  <a:srgbClr val="00c9a7"/>
                </a:solidFill>
                <a:latin typeface="Calibri"/>
              </a:rPr>
              <a:t>Ship Real Things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12"/>
          <p:cNvSpPr/>
          <p:nvPr/>
        </p:nvSpPr>
        <p:spPr>
          <a:xfrm>
            <a:off x="4672440" y="3657600"/>
            <a:ext cx="2010960" cy="3466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13"/>
          <p:cNvSpPr/>
          <p:nvPr/>
        </p:nvSpPr>
        <p:spPr>
          <a:xfrm>
            <a:off x="4672440" y="367596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6" strike="noStrike">
                <a:solidFill>
                  <a:srgbClr val="00c9a7"/>
                </a:solidFill>
                <a:latin typeface="Calibri"/>
              </a:rPr>
              <a:t>Context Matters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14"/>
          <p:cNvSpPr/>
          <p:nvPr/>
        </p:nvSpPr>
        <p:spPr>
          <a:xfrm>
            <a:off x="6849000" y="3657600"/>
            <a:ext cx="2010960" cy="3466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15"/>
          <p:cNvSpPr/>
          <p:nvPr/>
        </p:nvSpPr>
        <p:spPr>
          <a:xfrm>
            <a:off x="6849000" y="3675960"/>
            <a:ext cx="2010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6" strike="noStrike">
                <a:solidFill>
                  <a:srgbClr val="00c9a7"/>
                </a:solidFill>
                <a:latin typeface="Calibri"/>
              </a:rPr>
              <a:t>Give Back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16"/>
          <p:cNvSpPr/>
          <p:nvPr/>
        </p:nvSpPr>
        <p:spPr>
          <a:xfrm>
            <a:off x="0" y="4178880"/>
            <a:ext cx="9143280" cy="96408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Shape 17"/>
          <p:cNvSpPr/>
          <p:nvPr/>
        </p:nvSpPr>
        <p:spPr>
          <a:xfrm>
            <a:off x="0" y="4178880"/>
            <a:ext cx="9143280" cy="36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 18"/>
          <p:cNvSpPr/>
          <p:nvPr/>
        </p:nvSpPr>
        <p:spPr>
          <a:xfrm>
            <a:off x="365760" y="4297680"/>
            <a:ext cx="2102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✉  </a:t>
            </a: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lucyk7770@gmail.com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19"/>
          <p:cNvSpPr/>
          <p:nvPr/>
        </p:nvSpPr>
        <p:spPr>
          <a:xfrm>
            <a:off x="2606040" y="4297680"/>
            <a:ext cx="2102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📞  </a:t>
            </a: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+254 740 683 490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20"/>
          <p:cNvSpPr/>
          <p:nvPr/>
        </p:nvSpPr>
        <p:spPr>
          <a:xfrm>
            <a:off x="4846320" y="4297680"/>
            <a:ext cx="2102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𝕏  </a:t>
            </a: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@TheeNerdd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21"/>
          <p:cNvSpPr/>
          <p:nvPr/>
        </p:nvSpPr>
        <p:spPr>
          <a:xfrm>
            <a:off x="7086600" y="4297680"/>
            <a:ext cx="21024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💻  </a:t>
            </a:r>
            <a:r>
              <a:rPr b="0" lang="en-US" sz="1000" spc="-1" strike="noStrike">
                <a:solidFill>
                  <a:srgbClr val="8892a4"/>
                </a:solidFill>
                <a:latin typeface="Calibri"/>
              </a:rPr>
              <a:t>github.com/650DataNerd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22"/>
          <p:cNvSpPr/>
          <p:nvPr/>
        </p:nvSpPr>
        <p:spPr>
          <a:xfrm>
            <a:off x="365760" y="4663440"/>
            <a:ext cx="84117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00c9a7"/>
                </a:solidFill>
                <a:latin typeface="Calibri"/>
              </a:rPr>
              <a:t>🌐  </a:t>
            </a:r>
            <a:r>
              <a:rPr b="0" i="1" lang="en-US" sz="1000" spc="-1" strike="noStrike">
                <a:solidFill>
                  <a:srgbClr val="00c9a7"/>
                </a:solidFill>
                <a:latin typeface="Calibri"/>
              </a:rPr>
              <a:t>ishlusatssaver-production.up.railway.app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2026-05-08T19:40:43Z</dcterms:created>
  <dc:creator>PptxGenJS</dc:creator>
  <dc:description/>
  <dc:language>en-US</dc:language>
  <cp:lastModifiedBy/>
  <dcterms:modified xsi:type="dcterms:W3CDTF">2026-05-09T10:29:55Z</dcterms:modified>
  <cp:revision>8</cp:revision>
  <dc:subject>PptxGenJS Presentation</dc:subject>
  <dc:title>IshLu SatsSaver — Pre-Seed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