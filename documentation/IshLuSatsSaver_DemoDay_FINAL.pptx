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media4.mp4" ContentType="video/mp4"/>
  <Override PartName="/ppt/media/image8.png" ContentType="image/png"/>
  <Override PartName="/ppt/media/image12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9.png" ContentType="image/png"/>
  <Override PartName="/ppt/media/image1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E382A3A-B72F-4F19-A2C3-ADB94B45D9B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EC0ACE-5DE1-43AE-8C80-BE8B63DE78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E04EE-69D3-435F-8160-F2B7DC045B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286045-831C-45F9-9CBE-5CAD96CEC4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57D18D-607B-40B3-B02F-34DC772D85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396B1-763B-4028-9369-F13F03FE87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722B9-9B81-4DA0-AD38-EF112C5BEE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8603E2-6159-47E8-BFAD-6A5F85E11C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093DF8-5518-47D6-AE30-5E9FEAC384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A50D95-6077-4DC8-B946-1BD94A7141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7BDF16-B3E3-40BE-A922-340804BD3A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754880" y="-1645920"/>
            <a:ext cx="7314840" cy="7314840"/>
          </a:xfrm>
          <a:prstGeom prst="ellipse">
            <a:avLst/>
          </a:prstGeom>
          <a:solidFill>
            <a:srgbClr val="186b3a">
              <a:alpha val="12000"/>
            </a:srgbClr>
          </a:solidFill>
          <a:ln w="12700">
            <a:solidFill>
              <a:srgbClr val="186b3a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132320" y="1645920"/>
            <a:ext cx="3200040" cy="3200040"/>
          </a:xfrm>
          <a:prstGeom prst="ellipse">
            <a:avLst/>
          </a:prstGeom>
          <a:solidFill>
            <a:srgbClr val="f2a900">
              <a:alpha val="8000"/>
            </a:srgbClr>
          </a:solidFill>
          <a:ln w="12700">
            <a:solidFill>
              <a:srgbClr val="f2a9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828800" y="3200400"/>
            <a:ext cx="4571640" cy="4571640"/>
          </a:xfrm>
          <a:prstGeom prst="ellipse">
            <a:avLst/>
          </a:prstGeom>
          <a:solidFill>
            <a:srgbClr val="186b3a">
              <a:alpha val="9000"/>
            </a:srgbClr>
          </a:solidFill>
          <a:ln w="12700">
            <a:solidFill>
              <a:srgbClr val="186b3a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475560" y="41148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1280160" y="384120"/>
            <a:ext cx="46630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75560" y="1298520"/>
            <a:ext cx="59432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f2a900"/>
                </a:solidFill>
                <a:latin typeface="Georgia"/>
                <a:ea typeface="Georgia"/>
              </a:rPr>
              <a:t>Your Wealth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f2a900"/>
                </a:solidFill>
                <a:latin typeface="Georgia"/>
                <a:ea typeface="Georgia"/>
              </a:rPr>
              <a:t>is Rooted.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75560" y="3291840"/>
            <a:ext cx="53031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Bitcoin micro-savings + credit scoring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for 400M+ unbanked Africans.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475560" y="4160520"/>
            <a:ext cx="2239920" cy="38376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75560" y="4169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₿  </a:t>
            </a: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Bitcoin-Backed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2871360" y="4160520"/>
            <a:ext cx="2239920" cy="38376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71360" y="4169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KES  M-Pesa Native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5266800" y="4160520"/>
            <a:ext cx="2239920" cy="38376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266800" y="4169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🌍  </a:t>
            </a: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Africa-First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6144840" y="411480"/>
            <a:ext cx="1389600" cy="171864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6144840" y="521280"/>
            <a:ext cx="1389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400M+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144840" y="1289160"/>
            <a:ext cx="138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Unbanked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Africans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7626240" y="411480"/>
            <a:ext cx="1389600" cy="171864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7626240" y="521280"/>
            <a:ext cx="1389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$53B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7626240" y="1289160"/>
            <a:ext cx="138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Annual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Remittances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6144840" y="2286000"/>
            <a:ext cx="1389600" cy="1718640"/>
          </a:xfrm>
          <a:prstGeom prst="rect">
            <a:avLst/>
          </a:prstGeom>
          <a:solidFill>
            <a:srgbClr val="0e1e2b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6144840" y="2395800"/>
            <a:ext cx="1389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2a900"/>
                </a:solidFill>
                <a:latin typeface="Georgia"/>
                <a:ea typeface="Georgia"/>
              </a:rPr>
              <a:t>0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6144840" y="3163680"/>
            <a:ext cx="138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Bitcoin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Credit Scores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7626240" y="2286000"/>
            <a:ext cx="1389600" cy="171864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7626240" y="2395800"/>
            <a:ext cx="13896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42x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7626240" y="3163680"/>
            <a:ext cx="1389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LTV:CAC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Yr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475560" y="504756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DadaHub Residency  ·  Demo Day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db954"/>
                </a:solidFill>
                <a:latin typeface="Calibri"/>
                <a:ea typeface="Calibri"/>
              </a:rPr>
              <a:t>MINUTE 1  ·  THE PROBLEM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38840" y="749880"/>
            <a:ext cx="4315680" cy="4315680"/>
          </a:xfrm>
          <a:prstGeom prst="rect">
            <a:avLst/>
          </a:prstGeom>
          <a:solidFill>
            <a:srgbClr val="0d2018"/>
          </a:solidFill>
          <a:ln w="190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438840" y="749880"/>
            <a:ext cx="72720" cy="431568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58440" y="86868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Meet Aisha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658440" y="13532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Delivery rider, Nairobi  ·  KES 8,000 saved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658440" y="1691640"/>
            <a:ext cx="3767040" cy="363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658440" y="1810440"/>
            <a:ext cx="38401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"Her money shrinks while she sleeps.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Her bike breaks down.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She needs KES 15,000  fast.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The bank wants 3 months of payslips.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The loan app charges 30%.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She sells her phone to survive.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That is the liquidity trap.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400 million Africans live in it."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4956120" y="749880"/>
            <a:ext cx="3821760" cy="20296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4956120" y="749880"/>
            <a:ext cx="72720" cy="202968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5139000" y="1005840"/>
            <a:ext cx="529920" cy="529920"/>
          </a:xfrm>
          <a:prstGeom prst="rect">
            <a:avLst/>
          </a:prstGeom>
          <a:ln w="0">
            <a:noFill/>
          </a:ln>
        </p:spPr>
      </p:pic>
      <p:sp>
        <p:nvSpPr>
          <p:cNvPr id="44" name="Text 9"/>
          <p:cNvSpPr/>
          <p:nvPr/>
        </p:nvSpPr>
        <p:spPr>
          <a:xfrm>
            <a:off x="5139000" y="1618560"/>
            <a:ext cx="35200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2a900"/>
                </a:solidFill>
                <a:latin typeface="Georgia"/>
                <a:ea typeface="Georgia"/>
              </a:rPr>
              <a:t>-7%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139000" y="2286000"/>
            <a:ext cx="3520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Kenya Inflation Rate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047560" y="2578680"/>
            <a:ext cx="3620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Savings accounts lose value every year. Silently.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4956120" y="2962800"/>
            <a:ext cx="3821760" cy="20296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4956120" y="2962800"/>
            <a:ext cx="72720" cy="202968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5139000" y="3218760"/>
            <a:ext cx="529920" cy="529920"/>
          </a:xfrm>
          <a:prstGeom prst="rect">
            <a:avLst/>
          </a:prstGeom>
          <a:ln w="0">
            <a:noFill/>
          </a:ln>
        </p:spPr>
      </p:pic>
      <p:sp>
        <p:nvSpPr>
          <p:cNvPr id="50" name="Text 14"/>
          <p:cNvSpPr/>
          <p:nvPr/>
        </p:nvSpPr>
        <p:spPr>
          <a:xfrm>
            <a:off x="5139000" y="3831480"/>
            <a:ext cx="35200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1db954"/>
                </a:solidFill>
                <a:latin typeface="Georgia"/>
                <a:ea typeface="Georgia"/>
              </a:rPr>
              <a:t>30%+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139000" y="4498920"/>
            <a:ext cx="3520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Predatory Loan Rates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047560" y="4791600"/>
            <a:ext cx="3620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No credit score = no fair loans. One emergency = debt trap.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38840" y="5139000"/>
            <a:ext cx="833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IshLu is how Aisha escapes it.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db954"/>
                </a:solidFill>
                <a:latin typeface="Calibri"/>
                <a:ea typeface="Calibri"/>
              </a:rPr>
              <a:t>MINUTE 2  ·  LIVE DEMO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438840" y="4133160"/>
            <a:ext cx="495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5596200" y="749880"/>
            <a:ext cx="3154320" cy="7678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669280" y="859680"/>
            <a:ext cx="548280" cy="5482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669280" y="868680"/>
            <a:ext cx="548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6355080" y="8229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Open app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355080" y="11340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Dashboard with Sats Tree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5596200" y="1609200"/>
            <a:ext cx="3154320" cy="7678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5669280" y="1719000"/>
            <a:ext cx="548280" cy="5482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669280" y="1728360"/>
            <a:ext cx="548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6355080" y="16826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Tap Save → M-Pesa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6355080" y="19933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Select KES 100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5596200" y="2468880"/>
            <a:ext cx="3154320" cy="7678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5669280" y="2578680"/>
            <a:ext cx="548280" cy="5482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669280" y="2587680"/>
            <a:ext cx="548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6355080" y="25419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Phone vibrates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6355080" y="28530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M-Pesa STK Push arrives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5596200" y="3328560"/>
            <a:ext cx="3154320" cy="7678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5669280" y="3438000"/>
            <a:ext cx="548280" cy="5482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5669280" y="3447360"/>
            <a:ext cx="548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6355080" y="34016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Enter PIN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6355080" y="37123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Tap Confirm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5596200" y="4187880"/>
            <a:ext cx="3154320" cy="7678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5669280" y="4297680"/>
            <a:ext cx="548280" cy="5482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5669280" y="4306680"/>
            <a:ext cx="548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6355080" y="426096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Sats credited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6355080" y="45720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Tree grows. Balance updates.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5596200" y="5047560"/>
            <a:ext cx="3154320" cy="34704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5596200" y="504756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7111c"/>
                </a:solidFill>
                <a:latin typeface="Georgia"/>
                <a:ea typeface="Georgia"/>
              </a:rPr>
              <a:t>KES 100 → 750 sats. Bitcoin. Forever.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38840" y="457200"/>
            <a:ext cx="4956120" cy="457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86b3a"/>
                </a:solidFill>
                <a:latin typeface="Calibri"/>
                <a:ea typeface="Calibri"/>
              </a:rPr>
              <a:t>MINUTE 3  ·  THE TECH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75560" y="65844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7111c"/>
                </a:solidFill>
                <a:latin typeface="Georgia"/>
                <a:ea typeface="Georgia"/>
              </a:rPr>
              <a:t>Three layers make this special.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438840" y="1371600"/>
            <a:ext cx="8339040" cy="1115280"/>
          </a:xfrm>
          <a:prstGeom prst="rect">
            <a:avLst/>
          </a:prstGeom>
          <a:solidFill>
            <a:srgbClr val="f4faf6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67000" y="1527120"/>
            <a:ext cx="804240" cy="8042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667440" y="1627560"/>
            <a:ext cx="603000" cy="603000"/>
          </a:xfrm>
          <a:prstGeom prst="rect">
            <a:avLst/>
          </a:prstGeom>
          <a:ln w="0">
            <a:noFill/>
          </a:ln>
        </p:spPr>
      </p:pic>
      <p:sp>
        <p:nvSpPr>
          <p:cNvPr id="89" name="Text 4"/>
          <p:cNvSpPr/>
          <p:nvPr/>
        </p:nvSpPr>
        <p:spPr>
          <a:xfrm>
            <a:off x="1508760" y="14446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2a900"/>
                </a:solidFill>
                <a:latin typeface="Calibri"/>
                <a:ea typeface="Calibri"/>
              </a:rPr>
              <a:t>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1508760" y="1627560"/>
            <a:ext cx="2194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Lightning Network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3858840" y="1444680"/>
            <a:ext cx="4827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The fastest payment rail on earth. Sats settle in seconds. Non-custodial per-user wallets.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567000" y="2240280"/>
            <a:ext cx="8119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Breez SDK  ·  LNbits  ·  M-Pesa Daraja STK Push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38840" y="2651760"/>
            <a:ext cx="8339040" cy="111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567000" y="2807280"/>
            <a:ext cx="804240" cy="80424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2"/>
          <a:stretch/>
        </p:blipFill>
        <p:spPr>
          <a:xfrm>
            <a:off x="667440" y="2907720"/>
            <a:ext cx="603000" cy="603000"/>
          </a:xfrm>
          <a:prstGeom prst="rect">
            <a:avLst/>
          </a:prstGeom>
          <a:ln w="0">
            <a:noFill/>
          </a:ln>
        </p:spPr>
      </p:pic>
      <p:sp>
        <p:nvSpPr>
          <p:cNvPr id="96" name="Text 10"/>
          <p:cNvSpPr/>
          <p:nvPr/>
        </p:nvSpPr>
        <p:spPr>
          <a:xfrm>
            <a:off x="1508760" y="272484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86b3a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1508760" y="2907720"/>
            <a:ext cx="2194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Trust Score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3858840" y="2724840"/>
            <a:ext cx="4827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Proprietary 5-factor algorithm. 300–850 scale. Like FICO — but Bitcoin-native. No bank needed. No payslips. Just behavior.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67000" y="3520440"/>
            <a:ext cx="8119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35% Consistency  ·  25% Goals  ·  15% Tenure  ·  15% Velocity  ·  10% Repayment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438840" y="3931920"/>
            <a:ext cx="8339040" cy="1115280"/>
          </a:xfrm>
          <a:prstGeom prst="rect">
            <a:avLst/>
          </a:prstGeom>
          <a:solidFill>
            <a:srgbClr val="f4faf6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67000" y="4087440"/>
            <a:ext cx="804240" cy="8042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3"/>
          <a:stretch/>
        </p:blipFill>
        <p:spPr>
          <a:xfrm>
            <a:off x="667440" y="4187880"/>
            <a:ext cx="603000" cy="603000"/>
          </a:xfrm>
          <a:prstGeom prst="rect">
            <a:avLst/>
          </a:prstGeom>
          <a:ln w="0">
            <a:noFill/>
          </a:ln>
        </p:spPr>
      </p:pic>
      <p:sp>
        <p:nvSpPr>
          <p:cNvPr id="103" name="Text 16"/>
          <p:cNvSpPr/>
          <p:nvPr/>
        </p:nvSpPr>
        <p:spPr>
          <a:xfrm>
            <a:off x="1508760" y="400500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2a900"/>
                </a:solidFill>
                <a:latin typeface="Calibri"/>
                <a:ea typeface="Calibri"/>
              </a:rPr>
              <a:t>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1508760" y="4187880"/>
            <a:ext cx="2194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Akili AI Coach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3858840" y="4005000"/>
            <a:ext cx="4827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Explains your score in plain English and Swahili. Personalized nudges. Offline fallback.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567000" y="4800600"/>
            <a:ext cx="8119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Claude (Anthropic)  ·  English + Swahili  ·  Offline fallback mode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db954"/>
                </a:solidFill>
                <a:latin typeface="Calibri"/>
                <a:ea typeface="Calibri"/>
              </a:rPr>
              <a:t>THE MOAT  ·  TRUST SCORE ALGORITHM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411480" y="914400"/>
            <a:ext cx="3291480" cy="3291480"/>
          </a:xfrm>
          <a:prstGeom prst="ellipse">
            <a:avLst/>
          </a:prstGeom>
          <a:solidFill>
            <a:srgbClr val="0e1e2b"/>
          </a:solidFill>
          <a:ln w="381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411480" y="1508760"/>
            <a:ext cx="3291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0" spc="-1" strike="noStrike">
                <a:solidFill>
                  <a:srgbClr val="f2a900"/>
                </a:solidFill>
                <a:latin typeface="Georgia"/>
                <a:ea typeface="Georgia"/>
              </a:rPr>
              <a:t>842</a:t>
            </a:r>
            <a:endParaRPr b="0" lang="en-US" sz="8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411480" y="267012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98" strike="noStrike">
                <a:solidFill>
                  <a:srgbClr val="f2a900"/>
                </a:solidFill>
                <a:latin typeface="Calibri"/>
                <a:ea typeface="Calibri"/>
              </a:rPr>
              <a:t>PLATINUM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11480" y="30542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db954"/>
                </a:solidFill>
                <a:latin typeface="Calibri"/>
                <a:ea typeface="Calibri"/>
              </a:rPr>
              <a:t>Max loan: 500,000 sats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3913560" y="914400"/>
            <a:ext cx="4864320" cy="6580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986640" y="1005840"/>
            <a:ext cx="749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35%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800600" y="98748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Savings Consistency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4800600" y="1280160"/>
            <a:ext cx="387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Weekly saving frequency over 8 weeks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7315200" y="1170360"/>
            <a:ext cx="1389600" cy="910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7315200" y="1170360"/>
            <a:ext cx="1389600" cy="9108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3913560" y="1664280"/>
            <a:ext cx="4864320" cy="6580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3986640" y="1755720"/>
            <a:ext cx="749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25%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4800600" y="173736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Goal Completion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4800600" y="2030040"/>
            <a:ext cx="387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Goals hit on time vs. withdrawn early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7315200" y="1920240"/>
            <a:ext cx="1389600" cy="910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7315200" y="1920240"/>
            <a:ext cx="1028520" cy="9108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3913560" y="2414160"/>
            <a:ext cx="4864320" cy="6580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3986640" y="2505600"/>
            <a:ext cx="749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4800600" y="248724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Account Tenure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800600" y="2779920"/>
            <a:ext cx="387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Days on platform (log curve)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7315200" y="2670120"/>
            <a:ext cx="1389600" cy="910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7315200" y="2670120"/>
            <a:ext cx="617040" cy="9108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3913560" y="3163680"/>
            <a:ext cx="4864320" cy="6580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3986640" y="3255120"/>
            <a:ext cx="749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4800600" y="323712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Savings Velocity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4800600" y="3529440"/>
            <a:ext cx="387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Month-over-month sats growth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7"/>
          <p:cNvSpPr/>
          <p:nvPr/>
        </p:nvSpPr>
        <p:spPr>
          <a:xfrm>
            <a:off x="7315200" y="3420000"/>
            <a:ext cx="1389600" cy="910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28"/>
          <p:cNvSpPr/>
          <p:nvPr/>
        </p:nvSpPr>
        <p:spPr>
          <a:xfrm>
            <a:off x="7315200" y="3420000"/>
            <a:ext cx="617040" cy="9108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9"/>
          <p:cNvSpPr/>
          <p:nvPr/>
        </p:nvSpPr>
        <p:spPr>
          <a:xfrm>
            <a:off x="3913560" y="3913560"/>
            <a:ext cx="4864320" cy="65808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3986640" y="4005000"/>
            <a:ext cx="749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10%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4800600" y="3986640"/>
            <a:ext cx="387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Loan Repayment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4800600" y="4279320"/>
            <a:ext cx="387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On-time repayment 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7315200" y="4169520"/>
            <a:ext cx="1389600" cy="910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4"/>
          <p:cNvSpPr/>
          <p:nvPr/>
        </p:nvSpPr>
        <p:spPr>
          <a:xfrm>
            <a:off x="7315200" y="4169520"/>
            <a:ext cx="411120" cy="9108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35"/>
          <p:cNvSpPr/>
          <p:nvPr/>
        </p:nvSpPr>
        <p:spPr>
          <a:xfrm>
            <a:off x="411480" y="4663440"/>
            <a:ext cx="621360" cy="5299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411480" y="466344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411480" y="4937760"/>
            <a:ext cx="62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Seed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300+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8"/>
          <p:cNvSpPr/>
          <p:nvPr/>
        </p:nvSpPr>
        <p:spPr>
          <a:xfrm>
            <a:off x="1078920" y="4663440"/>
            <a:ext cx="621360" cy="5299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9"/>
          <p:cNvSpPr/>
          <p:nvPr/>
        </p:nvSpPr>
        <p:spPr>
          <a:xfrm>
            <a:off x="1078920" y="466344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0"/>
          <p:cNvSpPr/>
          <p:nvPr/>
        </p:nvSpPr>
        <p:spPr>
          <a:xfrm>
            <a:off x="1078920" y="4937760"/>
            <a:ext cx="62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Bronze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450+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1746360" y="4663440"/>
            <a:ext cx="621360" cy="5299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2"/>
          <p:cNvSpPr/>
          <p:nvPr/>
        </p:nvSpPr>
        <p:spPr>
          <a:xfrm>
            <a:off x="1746360" y="466344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🥈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3"/>
          <p:cNvSpPr/>
          <p:nvPr/>
        </p:nvSpPr>
        <p:spPr>
          <a:xfrm>
            <a:off x="1746360" y="4937760"/>
            <a:ext cx="62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Silver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600+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44"/>
          <p:cNvSpPr/>
          <p:nvPr/>
        </p:nvSpPr>
        <p:spPr>
          <a:xfrm>
            <a:off x="2414160" y="4663440"/>
            <a:ext cx="621360" cy="5299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5"/>
          <p:cNvSpPr/>
          <p:nvPr/>
        </p:nvSpPr>
        <p:spPr>
          <a:xfrm>
            <a:off x="2414160" y="466344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6"/>
          <p:cNvSpPr/>
          <p:nvPr/>
        </p:nvSpPr>
        <p:spPr>
          <a:xfrm>
            <a:off x="2414160" y="4937760"/>
            <a:ext cx="62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Gold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750+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7"/>
          <p:cNvSpPr/>
          <p:nvPr/>
        </p:nvSpPr>
        <p:spPr>
          <a:xfrm>
            <a:off x="3081600" y="4663440"/>
            <a:ext cx="621360" cy="5299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8"/>
          <p:cNvSpPr/>
          <p:nvPr/>
        </p:nvSpPr>
        <p:spPr>
          <a:xfrm>
            <a:off x="3081600" y="4663440"/>
            <a:ext cx="62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💎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9"/>
          <p:cNvSpPr/>
          <p:nvPr/>
        </p:nvSpPr>
        <p:spPr>
          <a:xfrm>
            <a:off x="3081600" y="4937760"/>
            <a:ext cx="62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7111c"/>
                </a:solidFill>
                <a:latin typeface="Calibri"/>
                <a:ea typeface="Calibri"/>
              </a:rPr>
              <a:t>Platinum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7111c"/>
                </a:solidFill>
                <a:latin typeface="Calibri"/>
                <a:ea typeface="Calibri"/>
              </a:rPr>
              <a:t>850+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3913560" y="470916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Score persists on-chain forever. Every user's history is a data flywheel competitors can't replicate.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86b3a"/>
                </a:solidFill>
                <a:latin typeface="Calibri"/>
                <a:ea typeface="Calibri"/>
              </a:rPr>
              <a:t>MINUTE 4  ·  REAL USER FEEDBACK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75560" y="658440"/>
            <a:ext cx="777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7111c"/>
                </a:solidFill>
                <a:latin typeface="Georgia"/>
                <a:ea typeface="Georgia"/>
              </a:rPr>
              <a:t>We tested with real users in Nairobi.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438840" y="1298520"/>
            <a:ext cx="2651400" cy="306288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438840" y="1298520"/>
            <a:ext cx="2651400" cy="6372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1362600" y="1444680"/>
            <a:ext cx="804240" cy="80424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1"/>
          <a:stretch/>
        </p:blipFill>
        <p:spPr>
          <a:xfrm>
            <a:off x="1472040" y="155448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164" name="Text 5"/>
          <p:cNvSpPr/>
          <p:nvPr/>
        </p:nvSpPr>
        <p:spPr>
          <a:xfrm>
            <a:off x="438840" y="23590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86b3a"/>
                </a:solidFill>
                <a:latin typeface="Georgia"/>
                <a:ea typeface="Georgia"/>
              </a:rPr>
              <a:t>3 sec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38840" y="29444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M-Pesa prompt arrives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48640" y="33375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"It came before I even put my phone down."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3273480" y="1298520"/>
            <a:ext cx="2651400" cy="306288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3273480" y="1298520"/>
            <a:ext cx="2651400" cy="637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4197240" y="1444680"/>
            <a:ext cx="804240" cy="8042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1" descr="preencoded.png"/>
          <p:cNvPicPr/>
          <p:nvPr/>
        </p:nvPicPr>
        <p:blipFill>
          <a:blip r:embed="rId2"/>
          <a:stretch/>
        </p:blipFill>
        <p:spPr>
          <a:xfrm>
            <a:off x="4306680" y="155448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171" name="Text 11"/>
          <p:cNvSpPr/>
          <p:nvPr/>
        </p:nvSpPr>
        <p:spPr>
          <a:xfrm>
            <a:off x="3273480" y="23590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2a900"/>
                </a:solidFill>
                <a:latin typeface="Georgia"/>
                <a:ea typeface="Georgia"/>
              </a:rPr>
              <a:t>Instant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3273480" y="29444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KES → sats conversion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3383280" y="33375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 understood it immediately. 100 shillings = 750 sats."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6108120" y="1298520"/>
            <a:ext cx="2651400" cy="306288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6108120" y="1298520"/>
            <a:ext cx="2651400" cy="6372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7031880" y="1444680"/>
            <a:ext cx="804240" cy="80424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2" descr="preencoded.png"/>
          <p:cNvPicPr/>
          <p:nvPr/>
        </p:nvPicPr>
        <p:blipFill>
          <a:blip r:embed="rId3"/>
          <a:stretch/>
        </p:blipFill>
        <p:spPr>
          <a:xfrm>
            <a:off x="7141320" y="155448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178" name="Text 17"/>
          <p:cNvSpPr/>
          <p:nvPr/>
        </p:nvSpPr>
        <p:spPr>
          <a:xfrm>
            <a:off x="6108120" y="235908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86b3a"/>
                </a:solidFill>
                <a:latin typeface="Georgia"/>
                <a:ea typeface="Georgia"/>
              </a:rPr>
              <a:t>🌳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6108120" y="29444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Sats Tree engagement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6217920" y="3337560"/>
            <a:ext cx="24501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 didn't want to break my streak. That's the point."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438840" y="4526280"/>
            <a:ext cx="8339040" cy="712800"/>
          </a:xfrm>
          <a:prstGeom prst="rect">
            <a:avLst/>
          </a:prstGeom>
          <a:solidFill>
            <a:srgbClr val="07111c"/>
          </a:solidFill>
          <a:ln w="6350">
            <a:solidFill>
              <a:srgbClr val="0711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621720" y="45720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Demo Day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2743200" y="4553640"/>
            <a:ext cx="1170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10+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2743200" y="491940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Users signed up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3977640" y="4553640"/>
            <a:ext cx="1170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5+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3977640" y="491940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Deposits made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5212080" y="4553640"/>
            <a:ext cx="1170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20+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5212080" y="491940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Trust Score calcs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8"/>
          <p:cNvSpPr/>
          <p:nvPr/>
        </p:nvSpPr>
        <p:spPr>
          <a:xfrm>
            <a:off x="6446520" y="4553640"/>
            <a:ext cx="1170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3+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6446520" y="491940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Lightning settled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7680960" y="4553640"/>
            <a:ext cx="1170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450+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7680960" y="4919400"/>
            <a:ext cx="1170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Avg Trust Score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db954"/>
                </a:solidFill>
                <a:latin typeface="Calibri"/>
                <a:ea typeface="Calibri"/>
              </a:rPr>
              <a:t>MARKET OPPORTUNITY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75560" y="658440"/>
            <a:ext cx="7772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A $50B+ market hiding in plain sight.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353240"/>
            <a:ext cx="2029680" cy="263304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150876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400M+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411480" y="2487240"/>
            <a:ext cx="2029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Unbanked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Africans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411480" y="3090600"/>
            <a:ext cx="2029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Total addressable market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2606040" y="1353240"/>
            <a:ext cx="2029680" cy="263304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2606040" y="150876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$53B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2606040" y="2487240"/>
            <a:ext cx="2029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Annual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Remittances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2606040" y="3090600"/>
            <a:ext cx="2029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Africa cross-border 2024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4800600" y="1353240"/>
            <a:ext cx="2029680" cy="263304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800600" y="150876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67%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800600" y="2487240"/>
            <a:ext cx="2029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Mobile Money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Penetration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4800600" y="3090600"/>
            <a:ext cx="2029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Sub-Saharan Africa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6995160" y="1353240"/>
            <a:ext cx="2029680" cy="2633040"/>
          </a:xfrm>
          <a:prstGeom prst="rect">
            <a:avLst/>
          </a:prstGeom>
          <a:solidFill>
            <a:srgbClr val="186b3a"/>
          </a:solidFill>
          <a:ln w="254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6995160" y="1353240"/>
            <a:ext cx="2029680" cy="727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6995160" y="150876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0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6995160" y="2487240"/>
            <a:ext cx="2029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Bitcoin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Credit Scores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6995160" y="3090600"/>
            <a:ext cx="2029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8eed8"/>
                </a:solidFill>
                <a:latin typeface="Calibri"/>
                <a:ea typeface="Calibri"/>
              </a:rPr>
              <a:t>No competitor exists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411480" y="4160520"/>
            <a:ext cx="8366400" cy="80424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658440" y="422460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TAM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1"/>
          <p:cNvSpPr/>
          <p:nvPr/>
        </p:nvSpPr>
        <p:spPr>
          <a:xfrm>
            <a:off x="1316880" y="420624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$50B+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658440" y="45536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All unbanked Africans with mobile money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3493080" y="422460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SAM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4151520" y="420624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$8B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3493080" y="45536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East &amp; West Africa smartphone users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6327720" y="4224600"/>
            <a:ext cx="594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SOM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27"/>
          <p:cNvSpPr/>
          <p:nvPr/>
        </p:nvSpPr>
        <p:spPr>
          <a:xfrm>
            <a:off x="6986160" y="420624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$120M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8"/>
          <p:cNvSpPr/>
          <p:nvPr/>
        </p:nvSpPr>
        <p:spPr>
          <a:xfrm>
            <a:off x="6327720" y="45536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Kenya + Nigeria — Year 1 target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438840" y="5029200"/>
            <a:ext cx="833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We don't compete with banks. We solve what banks can't — behavioral discipline + inflation-proof value storage.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86b3a"/>
                </a:solidFill>
                <a:latin typeface="Calibri"/>
                <a:ea typeface="Calibri"/>
              </a:rPr>
              <a:t>BUSINESS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75560" y="658440"/>
            <a:ext cx="777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7111c"/>
                </a:solidFill>
                <a:latin typeface="Georgia"/>
                <a:ea typeface="Georgia"/>
              </a:rPr>
              <a:t>Multiple streams. All aligned with user success.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38840" y="1298520"/>
            <a:ext cx="2029680" cy="2788560"/>
          </a:xfrm>
          <a:prstGeom prst="rect">
            <a:avLst/>
          </a:prstGeom>
          <a:solidFill>
            <a:srgbClr val="f4faf6"/>
          </a:solidFill>
          <a:ln w="12700">
            <a:solidFill>
              <a:srgbClr val="ffe8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438840" y="1298520"/>
            <a:ext cx="2029680" cy="637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548640" y="1389960"/>
            <a:ext cx="822600" cy="237240"/>
          </a:xfrm>
          <a:prstGeom prst="roundRect">
            <a:avLst>
              <a:gd name="adj" fmla="val 38462"/>
            </a:avLst>
          </a:prstGeom>
          <a:solidFill>
            <a:srgbClr val="fff3cc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548640" y="13989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f2a900"/>
                </a:solidFill>
                <a:latin typeface="Calibri"/>
                <a:ea typeface="Calibri"/>
              </a:rPr>
              <a:t>NOW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1051560" y="1691640"/>
            <a:ext cx="804240" cy="8042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Image 0" descr="preencoded.png"/>
          <p:cNvPicPr/>
          <p:nvPr/>
        </p:nvPicPr>
        <p:blipFill>
          <a:blip r:embed="rId1"/>
          <a:stretch/>
        </p:blipFill>
        <p:spPr>
          <a:xfrm>
            <a:off x="1161360" y="180144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231" name="Text 7"/>
          <p:cNvSpPr/>
          <p:nvPr/>
        </p:nvSpPr>
        <p:spPr>
          <a:xfrm>
            <a:off x="438840" y="2606040"/>
            <a:ext cx="2029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0.5% FX Spread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530280" y="312732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Every KES→Sats conversion.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Invisible to user. Scales with volume.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2615040" y="1298520"/>
            <a:ext cx="2029680" cy="278856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2615040" y="1298520"/>
            <a:ext cx="2029680" cy="6372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2724840" y="1389960"/>
            <a:ext cx="822600" cy="237240"/>
          </a:xfrm>
          <a:prstGeom prst="roundRect">
            <a:avLst>
              <a:gd name="adj" fmla="val 38462"/>
            </a:avLst>
          </a:prstGeom>
          <a:solidFill>
            <a:srgbClr val="d4f0e0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2724840" y="13989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186b3a"/>
                </a:solidFill>
                <a:latin typeface="Calibri"/>
                <a:ea typeface="Calibri"/>
              </a:rPr>
              <a:t>MONTH 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3227760" y="1691640"/>
            <a:ext cx="804240" cy="80424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3337560" y="180144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239" name="Text 14"/>
          <p:cNvSpPr/>
          <p:nvPr/>
        </p:nvSpPr>
        <p:spPr>
          <a:xfrm>
            <a:off x="2615040" y="2606040"/>
            <a:ext cx="2029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5% Loan Interest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2706480" y="312732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Emergency loans backed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by user's own sats. Fully collateralised.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6"/>
          <p:cNvSpPr/>
          <p:nvPr/>
        </p:nvSpPr>
        <p:spPr>
          <a:xfrm>
            <a:off x="4791600" y="1298520"/>
            <a:ext cx="2029680" cy="2788560"/>
          </a:xfrm>
          <a:prstGeom prst="rect">
            <a:avLst/>
          </a:prstGeom>
          <a:solidFill>
            <a:srgbClr val="f4faf6"/>
          </a:solidFill>
          <a:ln w="12700">
            <a:solidFill>
              <a:srgbClr val="ffe8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7"/>
          <p:cNvSpPr/>
          <p:nvPr/>
        </p:nvSpPr>
        <p:spPr>
          <a:xfrm>
            <a:off x="4791600" y="1298520"/>
            <a:ext cx="2029680" cy="637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4901040" y="1389960"/>
            <a:ext cx="822600" cy="237240"/>
          </a:xfrm>
          <a:prstGeom prst="roundRect">
            <a:avLst>
              <a:gd name="adj" fmla="val 38462"/>
            </a:avLst>
          </a:prstGeom>
          <a:solidFill>
            <a:srgbClr val="fff3cc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4901040" y="13989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f2a900"/>
                </a:solidFill>
                <a:latin typeface="Calibri"/>
                <a:ea typeface="Calibri"/>
              </a:rPr>
              <a:t>YEAR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0"/>
          <p:cNvSpPr/>
          <p:nvPr/>
        </p:nvSpPr>
        <p:spPr>
          <a:xfrm>
            <a:off x="5403960" y="1691640"/>
            <a:ext cx="804240" cy="8042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Image 2" descr="preencoded.png"/>
          <p:cNvPicPr/>
          <p:nvPr/>
        </p:nvPicPr>
        <p:blipFill>
          <a:blip r:embed="rId3"/>
          <a:stretch/>
        </p:blipFill>
        <p:spPr>
          <a:xfrm>
            <a:off x="5513760" y="180144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247" name="Text 21"/>
          <p:cNvSpPr/>
          <p:nvPr/>
        </p:nvSpPr>
        <p:spPr>
          <a:xfrm>
            <a:off x="4791600" y="2606040"/>
            <a:ext cx="2029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B2B SaaS API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4883040" y="312732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License Trust Score to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banks, SACCOs, microfinance.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6967800" y="1298520"/>
            <a:ext cx="2029680" cy="278856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4"/>
          <p:cNvSpPr/>
          <p:nvPr/>
        </p:nvSpPr>
        <p:spPr>
          <a:xfrm>
            <a:off x="6967800" y="1298520"/>
            <a:ext cx="2029680" cy="6372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25"/>
          <p:cNvSpPr/>
          <p:nvPr/>
        </p:nvSpPr>
        <p:spPr>
          <a:xfrm>
            <a:off x="7077600" y="1389960"/>
            <a:ext cx="822600" cy="237240"/>
          </a:xfrm>
          <a:prstGeom prst="roundRect">
            <a:avLst>
              <a:gd name="adj" fmla="val 38462"/>
            </a:avLst>
          </a:prstGeom>
          <a:solidFill>
            <a:srgbClr val="d4f0e0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7077600" y="13989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186b3a"/>
                </a:solidFill>
                <a:latin typeface="Calibri"/>
                <a:ea typeface="Calibri"/>
              </a:rPr>
              <a:t>YEAR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7"/>
          <p:cNvSpPr/>
          <p:nvPr/>
        </p:nvSpPr>
        <p:spPr>
          <a:xfrm>
            <a:off x="7580520" y="1691640"/>
            <a:ext cx="804240" cy="80424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Image 3" descr="preencoded.png"/>
          <p:cNvPicPr/>
          <p:nvPr/>
        </p:nvPicPr>
        <p:blipFill>
          <a:blip r:embed="rId4"/>
          <a:stretch/>
        </p:blipFill>
        <p:spPr>
          <a:xfrm>
            <a:off x="7689960" y="1801440"/>
            <a:ext cx="585000" cy="585000"/>
          </a:xfrm>
          <a:prstGeom prst="rect">
            <a:avLst/>
          </a:prstGeom>
          <a:ln w="0">
            <a:noFill/>
          </a:ln>
        </p:spPr>
      </p:pic>
      <p:sp>
        <p:nvSpPr>
          <p:cNvPr id="255" name="Text 28"/>
          <p:cNvSpPr/>
          <p:nvPr/>
        </p:nvSpPr>
        <p:spPr>
          <a:xfrm>
            <a:off x="6967800" y="2606040"/>
            <a:ext cx="2029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Premium Tier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7059240" y="3127320"/>
            <a:ext cx="1846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Auto-DCA, chama groups,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higher limits, advanced features.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0"/>
          <p:cNvSpPr/>
          <p:nvPr/>
        </p:nvSpPr>
        <p:spPr>
          <a:xfrm>
            <a:off x="438840" y="4224600"/>
            <a:ext cx="8339040" cy="932400"/>
          </a:xfrm>
          <a:prstGeom prst="rect">
            <a:avLst/>
          </a:prstGeom>
          <a:solidFill>
            <a:srgbClr val="07111c"/>
          </a:solidFill>
          <a:ln w="6350">
            <a:solidFill>
              <a:srgbClr val="0711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1"/>
          <p:cNvSpPr/>
          <p:nvPr/>
        </p:nvSpPr>
        <p:spPr>
          <a:xfrm>
            <a:off x="621720" y="429768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Year 1 Unit Economics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32"/>
          <p:cNvSpPr/>
          <p:nvPr/>
        </p:nvSpPr>
        <p:spPr>
          <a:xfrm>
            <a:off x="3017520" y="4279320"/>
            <a:ext cx="1416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200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3017520" y="47091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CAC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4"/>
          <p:cNvSpPr/>
          <p:nvPr/>
        </p:nvSpPr>
        <p:spPr>
          <a:xfrm>
            <a:off x="4498920" y="4279320"/>
            <a:ext cx="1416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1,200/yr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5"/>
          <p:cNvSpPr/>
          <p:nvPr/>
        </p:nvSpPr>
        <p:spPr>
          <a:xfrm>
            <a:off x="4498920" y="47091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ARPU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5980320" y="4279320"/>
            <a:ext cx="1416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8,400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5980320" y="47091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LTV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7461360" y="4279320"/>
            <a:ext cx="1416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42x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9"/>
          <p:cNvSpPr/>
          <p:nvPr/>
        </p:nvSpPr>
        <p:spPr>
          <a:xfrm>
            <a:off x="7461360" y="47091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LTV:CAC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475560" y="25596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1db954"/>
                </a:solidFill>
                <a:latin typeface="Calibri"/>
                <a:ea typeface="Calibri"/>
              </a:rPr>
              <a:t>MINUTE 5  ·  TEAM  &amp;  THE ASK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438840" y="749880"/>
            <a:ext cx="4132800" cy="4224240"/>
          </a:xfrm>
          <a:prstGeom prst="rect">
            <a:avLst/>
          </a:prstGeom>
          <a:solidFill>
            <a:srgbClr val="0e1e2b"/>
          </a:solidFill>
          <a:ln w="190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438840" y="749880"/>
            <a:ext cx="72720" cy="422424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58440" y="896040"/>
            <a:ext cx="1325520" cy="1325520"/>
          </a:xfrm>
          <a:prstGeom prst="ellipse">
            <a:avLst/>
          </a:prstGeom>
          <a:solidFill>
            <a:srgbClr val="152232"/>
          </a:solidFill>
          <a:ln w="254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658440" y="1353240"/>
            <a:ext cx="1325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[Photo]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2103120" y="896040"/>
            <a:ext cx="2358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[Founder Name]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2103120" y="1389960"/>
            <a:ext cx="235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2a900"/>
                </a:solidFill>
                <a:latin typeface="Calibri"/>
                <a:ea typeface="Calibri"/>
              </a:rPr>
              <a:t>Founder &amp; CEO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658440" y="1920240"/>
            <a:ext cx="3730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▸  </a:t>
            </a: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Designed, coded, shipped IshLu — solo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658440" y="2359080"/>
            <a:ext cx="3730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▸  </a:t>
            </a: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DadaHub Residency 2026, Nairobi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658440" y="2797920"/>
            <a:ext cx="3730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▸  </a:t>
            </a: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[Your background — 2–3 words]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658440" y="3237120"/>
            <a:ext cx="3730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▸  </a:t>
            </a: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[Prior project / community work]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438840" y="3767400"/>
            <a:ext cx="4132800" cy="566640"/>
          </a:xfrm>
          <a:prstGeom prst="rect">
            <a:avLst/>
          </a:prstGeom>
          <a:solidFill>
            <a:srgbClr val="0d2018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567000" y="3803760"/>
            <a:ext cx="3913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Solo = full ownership, no co-founder risk, proven builder.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Funding builds the team.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475560" y="446220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Advisors / first hires: [Add here]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4"/>
          <p:cNvSpPr/>
          <p:nvPr/>
        </p:nvSpPr>
        <p:spPr>
          <a:xfrm>
            <a:off x="4773240" y="749880"/>
            <a:ext cx="3977280" cy="1874160"/>
          </a:xfrm>
          <a:prstGeom prst="rect">
            <a:avLst/>
          </a:prstGeom>
          <a:solidFill>
            <a:srgbClr val="0e1e2b"/>
          </a:solidFill>
          <a:ln w="6350">
            <a:solidFill>
              <a:srgbClr val="0e1e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4919400" y="822960"/>
            <a:ext cx="371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9" strike="noStrike">
                <a:solidFill>
                  <a:srgbClr val="5c7a6a"/>
                </a:solidFill>
                <a:latin typeface="Calibri"/>
                <a:ea typeface="Calibri"/>
              </a:rPr>
              <a:t>PRE-SEED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4919400" y="1078920"/>
            <a:ext cx="3711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$50,000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4919400" y="2011680"/>
            <a:ext cx="371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SAFE  ·  $600K cap  ·  20% discount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4919400" y="2304360"/>
            <a:ext cx="371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MVP to Market  —  6-month runway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19"/>
          <p:cNvSpPr/>
          <p:nvPr/>
        </p:nvSpPr>
        <p:spPr>
          <a:xfrm>
            <a:off x="4773240" y="2816280"/>
            <a:ext cx="3977280" cy="3654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4773240" y="2816280"/>
            <a:ext cx="72720" cy="3654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4901040" y="285300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40%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5614560" y="285300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$20K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3"/>
          <p:cNvSpPr/>
          <p:nvPr/>
        </p:nvSpPr>
        <p:spPr>
          <a:xfrm>
            <a:off x="6473880" y="287136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Product &amp; Engineering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24"/>
          <p:cNvSpPr/>
          <p:nvPr/>
        </p:nvSpPr>
        <p:spPr>
          <a:xfrm>
            <a:off x="4773240" y="3237120"/>
            <a:ext cx="3977280" cy="3654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25"/>
          <p:cNvSpPr/>
          <p:nvPr/>
        </p:nvSpPr>
        <p:spPr>
          <a:xfrm>
            <a:off x="4773240" y="3237120"/>
            <a:ext cx="72720" cy="3654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4901040" y="327348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30%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5614560" y="327348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$15K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28"/>
          <p:cNvSpPr/>
          <p:nvPr/>
        </p:nvSpPr>
        <p:spPr>
          <a:xfrm>
            <a:off x="6473880" y="329184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User Acquisition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29"/>
          <p:cNvSpPr/>
          <p:nvPr/>
        </p:nvSpPr>
        <p:spPr>
          <a:xfrm>
            <a:off x="4773240" y="3657600"/>
            <a:ext cx="3977280" cy="3654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30"/>
          <p:cNvSpPr/>
          <p:nvPr/>
        </p:nvSpPr>
        <p:spPr>
          <a:xfrm>
            <a:off x="4773240" y="3657600"/>
            <a:ext cx="72720" cy="3654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1"/>
          <p:cNvSpPr/>
          <p:nvPr/>
        </p:nvSpPr>
        <p:spPr>
          <a:xfrm>
            <a:off x="4901040" y="369432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20%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2"/>
          <p:cNvSpPr/>
          <p:nvPr/>
        </p:nvSpPr>
        <p:spPr>
          <a:xfrm>
            <a:off x="5614560" y="369432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$10K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3"/>
          <p:cNvSpPr/>
          <p:nvPr/>
        </p:nvSpPr>
        <p:spPr>
          <a:xfrm>
            <a:off x="6473880" y="371232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Compliance &amp; Legal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34"/>
          <p:cNvSpPr/>
          <p:nvPr/>
        </p:nvSpPr>
        <p:spPr>
          <a:xfrm>
            <a:off x="4773240" y="4078080"/>
            <a:ext cx="3977280" cy="3654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35"/>
          <p:cNvSpPr/>
          <p:nvPr/>
        </p:nvSpPr>
        <p:spPr>
          <a:xfrm>
            <a:off x="4773240" y="4078080"/>
            <a:ext cx="72720" cy="36540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6"/>
          <p:cNvSpPr/>
          <p:nvPr/>
        </p:nvSpPr>
        <p:spPr>
          <a:xfrm>
            <a:off x="4901040" y="4114800"/>
            <a:ext cx="658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10%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7"/>
          <p:cNvSpPr/>
          <p:nvPr/>
        </p:nvSpPr>
        <p:spPr>
          <a:xfrm>
            <a:off x="5614560" y="4114800"/>
            <a:ext cx="804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$5K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38"/>
          <p:cNvSpPr/>
          <p:nvPr/>
        </p:nvSpPr>
        <p:spPr>
          <a:xfrm>
            <a:off x="6473880" y="4133160"/>
            <a:ext cx="2148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9"/>
          <p:cNvSpPr/>
          <p:nvPr/>
        </p:nvSpPr>
        <p:spPr>
          <a:xfrm>
            <a:off x="4773240" y="466344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db954"/>
                </a:solidFill>
                <a:latin typeface="Calibri"/>
                <a:ea typeface="Calibri"/>
              </a:rPr>
              <a:t>500 users M3  →  KES 2M ARR M9  →  Series A ready M18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-1828800" y="-1371600"/>
            <a:ext cx="6400440" cy="6400440"/>
          </a:xfrm>
          <a:prstGeom prst="ellipse">
            <a:avLst/>
          </a:prstGeom>
          <a:solidFill>
            <a:srgbClr val="186b3a">
              <a:alpha val="13000"/>
            </a:srgbClr>
          </a:solidFill>
          <a:ln w="12700">
            <a:solidFill>
              <a:srgbClr val="186b3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"/>
          <p:cNvSpPr/>
          <p:nvPr/>
        </p:nvSpPr>
        <p:spPr>
          <a:xfrm>
            <a:off x="6400800" y="2743200"/>
            <a:ext cx="6400440" cy="6400440"/>
          </a:xfrm>
          <a:prstGeom prst="ellipse">
            <a:avLst/>
          </a:prstGeom>
          <a:solidFill>
            <a:srgbClr val="f2a900">
              <a:alpha val="9000"/>
            </a:srgbClr>
          </a:solidFill>
          <a:ln w="12700">
            <a:solidFill>
              <a:srgbClr val="f2a900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0" descr="preencoded.png"/>
          <p:cNvPicPr/>
          <p:nvPr/>
        </p:nvPicPr>
        <p:blipFill>
          <a:blip r:embed="rId1"/>
          <a:stretch/>
        </p:blipFill>
        <p:spPr>
          <a:xfrm>
            <a:off x="4224600" y="475560"/>
            <a:ext cx="749520" cy="749520"/>
          </a:xfrm>
          <a:prstGeom prst="rect">
            <a:avLst/>
          </a:prstGeom>
          <a:ln w="0">
            <a:noFill/>
          </a:ln>
        </p:spPr>
      </p:pic>
      <p:sp>
        <p:nvSpPr>
          <p:cNvPr id="310" name="Text 2"/>
          <p:cNvSpPr/>
          <p:nvPr/>
        </p:nvSpPr>
        <p:spPr>
          <a:xfrm>
            <a:off x="731520" y="1261800"/>
            <a:ext cx="77720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3200400" y="2148840"/>
            <a:ext cx="2834280" cy="727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731520" y="2304360"/>
            <a:ext cx="7772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200" spc="-1" strike="noStrike">
                <a:solidFill>
                  <a:srgbClr val="f2a900"/>
                </a:solidFill>
                <a:latin typeface="Georgia"/>
                <a:ea typeface="Georgia"/>
              </a:rPr>
              <a:t>Your Wealth is Rooted.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1097280" y="3127320"/>
            <a:ext cx="69490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IshLu SatsSaver is how 400M Africans start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building Bitcoin wealth — one shilling at a time.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475560" y="4133160"/>
            <a:ext cx="1992960" cy="38376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475560" y="4151520"/>
            <a:ext cx="199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Build in Public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2624400" y="4133160"/>
            <a:ext cx="1992960" cy="38376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2624400" y="4151520"/>
            <a:ext cx="199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Ship Real Things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4773240" y="4133160"/>
            <a:ext cx="1992960" cy="38376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4773240" y="4151520"/>
            <a:ext cx="199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Context Matters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6922080" y="4133160"/>
            <a:ext cx="1992960" cy="38376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6922080" y="4151520"/>
            <a:ext cx="199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Give Back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731520" y="46634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🌐  </a:t>
            </a:r>
            <a:r>
              <a:rPr b="0" i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ishlusatssaver-production.up.railway.app  ·  💻  github.com/[your-repo]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731520" y="50108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[your@email.com]  ·  [+254 xxx xxx]  ·  [twitter / linkedin]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2026-05-06T07:07:09Z</dcterms:created>
  <dc:creator>PptxGenJS</dc:creator>
  <dc:description/>
  <dc:language>en-US</dc:language>
  <cp:lastModifiedBy/>
  <dcterms:modified xsi:type="dcterms:W3CDTF">2026-05-06T10:44:50Z</dcterms:modified>
  <cp:revision>2</cp:revision>
  <dc:subject>PptxGenJS Presentation</dc:subject>
  <dc:title>IshLu SatsSaver — Demo Day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